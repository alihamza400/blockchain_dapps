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29"/>
  </p:notesMasterIdLst>
  <p:handoutMasterIdLst>
    <p:handoutMasterId r:id="rId30"/>
  </p:handoutMasterIdLst>
  <p:sldIdLst>
    <p:sldId id="342" r:id="rId5"/>
    <p:sldId id="359" r:id="rId6"/>
    <p:sldId id="373" r:id="rId7"/>
    <p:sldId id="374" r:id="rId8"/>
    <p:sldId id="375" r:id="rId9"/>
    <p:sldId id="376" r:id="rId10"/>
    <p:sldId id="382" r:id="rId11"/>
    <p:sldId id="383" r:id="rId12"/>
    <p:sldId id="384" r:id="rId13"/>
    <p:sldId id="377" r:id="rId14"/>
    <p:sldId id="385" r:id="rId15"/>
    <p:sldId id="378" r:id="rId16"/>
    <p:sldId id="392" r:id="rId17"/>
    <p:sldId id="391" r:id="rId18"/>
    <p:sldId id="388" r:id="rId19"/>
    <p:sldId id="387" r:id="rId20"/>
    <p:sldId id="386" r:id="rId21"/>
    <p:sldId id="393" r:id="rId22"/>
    <p:sldId id="394" r:id="rId23"/>
    <p:sldId id="395" r:id="rId24"/>
    <p:sldId id="396" r:id="rId25"/>
    <p:sldId id="380" r:id="rId26"/>
    <p:sldId id="398" r:id="rId27"/>
    <p:sldId id="37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3FBFE"/>
    <a:srgbClr val="000000"/>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3" autoAdjust="0"/>
    <p:restoredTop sz="95388" autoAdjust="0"/>
  </p:normalViewPr>
  <p:slideViewPr>
    <p:cSldViewPr snapToGrid="0" snapToObjects="1" showGuides="1">
      <p:cViewPr>
        <p:scale>
          <a:sx n="100" d="100"/>
          <a:sy n="100" d="100"/>
        </p:scale>
        <p:origin x="58" y="-44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10/8/2025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10/8/2025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93507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2493029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F0CB-461D-D657-F130-15CE690FF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F716D-7168-DFE5-8A07-C5D358B96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2D98F-E6F2-D254-14A6-ECC6BD2A54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2C9F80-E78F-211B-E8B9-FA9C9244A410}"/>
              </a:ext>
            </a:extLst>
          </p:cNvPr>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646286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2426F-815B-5FA4-93BC-8E0D0D3CE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0089B-0349-54EC-B3B2-2B0C3C6AD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7AA62-3771-B5C8-D031-4B7204BCAE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3A0396-19AE-FF24-0BC0-A8F59485DF55}"/>
              </a:ext>
            </a:extLst>
          </p:cNvPr>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3553233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AF9A-1F9B-B8CE-548D-8C545D047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A55C2-045A-AC16-EFCF-72D801E37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94DD2-8922-65A8-9E48-232F2E6085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F35120-981B-14F7-CB84-FF966CA7F406}"/>
              </a:ext>
            </a:extLst>
          </p:cNvPr>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213984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712487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F1632-DC12-DE80-8661-647F24A72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5A5F0-1FAD-9803-14EE-423829A8F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F68C9-9E5D-B830-F2C6-3C5F89F976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570F6-EEED-957A-EF7C-629F8F2CFF5A}"/>
              </a:ext>
            </a:extLst>
          </p:cNvPr>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3656700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3765125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1B27A-968B-6A73-F0A5-E18DB7816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D017C-5EED-BAFF-927E-4EE801FB4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9F7D4-B6D3-815D-8EDB-7F16F833BA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C56FB-0CFD-3B1F-C2EA-61598D1AAFE7}"/>
              </a:ext>
            </a:extLst>
          </p:cNvPr>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86365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D682-9A3D-BF82-465F-AB76EBDC0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B1906-81F0-202E-305D-888C292C6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15A27-674F-E394-65C3-D7D1A68B9A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BBD0A0-F47C-AAE7-7CF4-4C7E5BABA2C9}"/>
              </a:ext>
            </a:extLst>
          </p:cNvPr>
          <p:cNvSpPr>
            <a:spLocks noGrp="1"/>
          </p:cNvSpPr>
          <p:nvPr>
            <p:ph type="sldNum" sz="quarter" idx="5"/>
          </p:nvPr>
        </p:nvSpPr>
        <p:spPr/>
        <p:txBody>
          <a:bodyPr/>
          <a:lstStyle/>
          <a:p>
            <a:fld id="{DEF75CB5-5666-5049-9AE0-38EFD385C21E}" type="slidenum">
              <a:rPr lang="en-US" smtClean="0"/>
              <a:t>14</a:t>
            </a:fld>
            <a:endParaRPr lang="en-US" dirty="0"/>
          </a:p>
        </p:txBody>
      </p:sp>
    </p:spTree>
    <p:extLst>
      <p:ext uri="{BB962C8B-B14F-4D97-AF65-F5344CB8AC3E}">
        <p14:creationId xmlns:p14="http://schemas.microsoft.com/office/powerpoint/2010/main" val="805659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41FD0-EE34-4765-A6B2-4413E2906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8939E-0D8F-E116-4FAC-6D4A4AB9F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740776-4A89-CCF2-490B-988BE96D97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55AFDC-A304-1247-D0B0-BB9F88531299}"/>
              </a:ext>
            </a:extLst>
          </p:cNvPr>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3520397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9E7C6-53B1-1E2A-E4D0-EFFE4CCE5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3B607-8F3D-259A-F582-9E65079F8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A596F-6944-4C1A-8121-A303A5683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3AFD63-9D58-B43F-A701-EFD2D1338170}"/>
              </a:ext>
            </a:extLst>
          </p:cNvPr>
          <p:cNvSpPr>
            <a:spLocks noGrp="1"/>
          </p:cNvSpPr>
          <p:nvPr>
            <p:ph type="sldNum" sz="quarter" idx="5"/>
          </p:nvPr>
        </p:nvSpPr>
        <p:spPr/>
        <p:txBody>
          <a:bodyPr/>
          <a:lstStyle/>
          <a:p>
            <a:fld id="{DEF75CB5-5666-5049-9AE0-38EFD385C21E}" type="slidenum">
              <a:rPr lang="en-US" smtClean="0"/>
              <a:t>16</a:t>
            </a:fld>
            <a:endParaRPr lang="en-US" dirty="0"/>
          </a:p>
        </p:txBody>
      </p:sp>
    </p:spTree>
    <p:extLst>
      <p:ext uri="{BB962C8B-B14F-4D97-AF65-F5344CB8AC3E}">
        <p14:creationId xmlns:p14="http://schemas.microsoft.com/office/powerpoint/2010/main" val="829802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FADD-9ECF-6D6E-693B-1C49EB4E0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E858-C7A6-AB79-E3A3-C15151EEF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95245-7BC3-4EF5-931E-AB33E93324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7E0F2-ED5C-AE2D-7DCD-C4200DABBCA1}"/>
              </a:ext>
            </a:extLst>
          </p:cNvPr>
          <p:cNvSpPr>
            <a:spLocks noGrp="1"/>
          </p:cNvSpPr>
          <p:nvPr>
            <p:ph type="sldNum" sz="quarter" idx="5"/>
          </p:nvPr>
        </p:nvSpPr>
        <p:spPr/>
        <p:txBody>
          <a:bodyPr/>
          <a:lstStyle/>
          <a:p>
            <a:fld id="{DEF75CB5-5666-5049-9AE0-38EFD385C21E}" type="slidenum">
              <a:rPr lang="en-US" smtClean="0"/>
              <a:t>17</a:t>
            </a:fld>
            <a:endParaRPr lang="en-US" dirty="0"/>
          </a:p>
        </p:txBody>
      </p:sp>
    </p:spTree>
    <p:extLst>
      <p:ext uri="{BB962C8B-B14F-4D97-AF65-F5344CB8AC3E}">
        <p14:creationId xmlns:p14="http://schemas.microsoft.com/office/powerpoint/2010/main" val="986058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462B5-662F-6579-0B6D-5D5C5D9E5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83F78-17B0-7009-5971-546A0B7A8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156D7-6A05-97B8-BB56-F63F8A9C0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955394-8437-DAA8-9E57-03A127FC5531}"/>
              </a:ext>
            </a:extLst>
          </p:cNvPr>
          <p:cNvSpPr>
            <a:spLocks noGrp="1"/>
          </p:cNvSpPr>
          <p:nvPr>
            <p:ph type="sldNum" sz="quarter" idx="5"/>
          </p:nvPr>
        </p:nvSpPr>
        <p:spPr/>
        <p:txBody>
          <a:bodyPr/>
          <a:lstStyle/>
          <a:p>
            <a:fld id="{DEF75CB5-5666-5049-9AE0-38EFD385C21E}" type="slidenum">
              <a:rPr lang="en-US" smtClean="0"/>
              <a:t>18</a:t>
            </a:fld>
            <a:endParaRPr lang="en-US" dirty="0"/>
          </a:p>
        </p:txBody>
      </p:sp>
    </p:spTree>
    <p:extLst>
      <p:ext uri="{BB962C8B-B14F-4D97-AF65-F5344CB8AC3E}">
        <p14:creationId xmlns:p14="http://schemas.microsoft.com/office/powerpoint/2010/main" val="697715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69C9-9386-875C-8864-B7E705EFA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6F57F-BEBB-6256-50F9-B05569CB3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405F6-FA4F-C03B-3EDB-5655359F66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A90C3D-E8D4-61FB-9FB8-72AD3FA22694}"/>
              </a:ext>
            </a:extLst>
          </p:cNvPr>
          <p:cNvSpPr>
            <a:spLocks noGrp="1"/>
          </p:cNvSpPr>
          <p:nvPr>
            <p:ph type="sldNum" sz="quarter" idx="5"/>
          </p:nvPr>
        </p:nvSpPr>
        <p:spPr/>
        <p:txBody>
          <a:bodyPr/>
          <a:lstStyle/>
          <a:p>
            <a:fld id="{DEF75CB5-5666-5049-9AE0-38EFD385C21E}" type="slidenum">
              <a:rPr lang="en-US" smtClean="0"/>
              <a:t>19</a:t>
            </a:fld>
            <a:endParaRPr lang="en-US" dirty="0"/>
          </a:p>
        </p:txBody>
      </p:sp>
    </p:spTree>
    <p:extLst>
      <p:ext uri="{BB962C8B-B14F-4D97-AF65-F5344CB8AC3E}">
        <p14:creationId xmlns:p14="http://schemas.microsoft.com/office/powerpoint/2010/main" val="3729063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3F21-069F-5E0B-CF2D-B05EFA1B2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91B68-D85B-E4AE-C9C8-A78AD4C6C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8CF4E-25FE-98D2-9918-170DC4465C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DDF7FC-740A-9E46-005C-716E95368A99}"/>
              </a:ext>
            </a:extLst>
          </p:cNvPr>
          <p:cNvSpPr>
            <a:spLocks noGrp="1"/>
          </p:cNvSpPr>
          <p:nvPr>
            <p:ph type="sldNum" sz="quarter" idx="5"/>
          </p:nvPr>
        </p:nvSpPr>
        <p:spPr/>
        <p:txBody>
          <a:bodyPr/>
          <a:lstStyle/>
          <a:p>
            <a:fld id="{DEF75CB5-5666-5049-9AE0-38EFD385C21E}" type="slidenum">
              <a:rPr lang="en-US" smtClean="0"/>
              <a:t>20</a:t>
            </a:fld>
            <a:endParaRPr lang="en-US" dirty="0"/>
          </a:p>
        </p:txBody>
      </p:sp>
    </p:spTree>
    <p:extLst>
      <p:ext uri="{BB962C8B-B14F-4D97-AF65-F5344CB8AC3E}">
        <p14:creationId xmlns:p14="http://schemas.microsoft.com/office/powerpoint/2010/main" val="2465444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5786-E688-CADE-C4F1-8321E0DFC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1A0C6-B183-9275-0E19-BB5E2F0CF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FCC33-E172-09F4-9DFA-BF5CB4BFAE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BF54D3-3717-12EC-B04F-E24493C41CD8}"/>
              </a:ext>
            </a:extLst>
          </p:cNvPr>
          <p:cNvSpPr>
            <a:spLocks noGrp="1"/>
          </p:cNvSpPr>
          <p:nvPr>
            <p:ph type="sldNum" sz="quarter" idx="5"/>
          </p:nvPr>
        </p:nvSpPr>
        <p:spPr/>
        <p:txBody>
          <a:bodyPr/>
          <a:lstStyle/>
          <a:p>
            <a:fld id="{DEF75CB5-5666-5049-9AE0-38EFD385C21E}" type="slidenum">
              <a:rPr lang="en-US" smtClean="0"/>
              <a:t>21</a:t>
            </a:fld>
            <a:endParaRPr lang="en-US" dirty="0"/>
          </a:p>
        </p:txBody>
      </p:sp>
    </p:spTree>
    <p:extLst>
      <p:ext uri="{BB962C8B-B14F-4D97-AF65-F5344CB8AC3E}">
        <p14:creationId xmlns:p14="http://schemas.microsoft.com/office/powerpoint/2010/main" val="151038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22</a:t>
            </a:fld>
            <a:endParaRPr lang="en-US" dirty="0"/>
          </a:p>
        </p:txBody>
      </p:sp>
    </p:spTree>
    <p:extLst>
      <p:ext uri="{BB962C8B-B14F-4D97-AF65-F5344CB8AC3E}">
        <p14:creationId xmlns:p14="http://schemas.microsoft.com/office/powerpoint/2010/main" val="839213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48B3D-9A6F-A624-84C8-4D3491A1D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68926-ED25-727B-A4AC-2706551B9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8B22D-06D9-51E8-2D3C-5DD7AD8EAA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286EA-ECE6-AFA0-EC98-922602FCBB83}"/>
              </a:ext>
            </a:extLst>
          </p:cNvPr>
          <p:cNvSpPr>
            <a:spLocks noGrp="1"/>
          </p:cNvSpPr>
          <p:nvPr>
            <p:ph type="sldNum" sz="quarter" idx="5"/>
          </p:nvPr>
        </p:nvSpPr>
        <p:spPr/>
        <p:txBody>
          <a:bodyPr/>
          <a:lstStyle/>
          <a:p>
            <a:fld id="{DEF75CB5-5666-5049-9AE0-38EFD385C21E}" type="slidenum">
              <a:rPr lang="en-US" smtClean="0"/>
              <a:t>23</a:t>
            </a:fld>
            <a:endParaRPr lang="en-US" dirty="0"/>
          </a:p>
        </p:txBody>
      </p:sp>
    </p:spTree>
    <p:extLst>
      <p:ext uri="{BB962C8B-B14F-4D97-AF65-F5344CB8AC3E}">
        <p14:creationId xmlns:p14="http://schemas.microsoft.com/office/powerpoint/2010/main" val="770224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24</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10/8/2025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0817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10/8/2025</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312995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10/8/2025</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71064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10/8/2025</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965074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10/8/2025</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522660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10/8/2025</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980535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10/8/2025</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24132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10/8/2025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817998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10/8/2025</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833082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10/8/2025</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266482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10/8/2025</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478567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0598766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306929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369985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dirty="0"/>
              <a:t>Click icon to add picture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397932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28657285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dirty="0"/>
              <a:t>Click to edit Master title style</a:t>
            </a:r>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5144139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6433684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067450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dirty="0"/>
              <a:t>Click icon to add picture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87203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dirty="0"/>
              <a:t>Click icon to add table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13861376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199645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dirty="0"/>
              <a:t>Click icon to add table</a:t>
            </a:r>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7507577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5003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10/8/2025</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1503307506"/>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2322673"/>
          </a:xfrm>
        </p:spPr>
        <p:txBody>
          <a:bodyPr anchor="b"/>
          <a:lstStyle/>
          <a:p>
            <a:r>
              <a:rPr lang="en-US" sz="3200" dirty="0">
                <a:solidFill>
                  <a:schemeClr val="tx2">
                    <a:lumMod val="76000"/>
                    <a:lumOff val="24000"/>
                  </a:schemeClr>
                </a:solidFill>
                <a:cs typeface="Biome"/>
              </a:rPr>
              <a:t>Project title</a:t>
            </a:r>
            <a:endParaRPr lang="en-US" sz="3200">
              <a:solidFill>
                <a:schemeClr val="tx2">
                  <a:lumMod val="76000"/>
                  <a:lumOff val="24000"/>
                </a:schemeClr>
              </a:solidFill>
            </a:endParaRP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p:txBody>
          <a:bodyPr vert="horz" lIns="91440" tIns="45720" rIns="91440" bIns="45720" rtlCol="0" anchor="t">
            <a:noAutofit/>
          </a:bodyPr>
          <a:lstStyle/>
          <a:p>
            <a:r>
              <a:rPr lang="en-US" b="1" err="1">
                <a:solidFill>
                  <a:schemeClr val="bg2"/>
                </a:solidFill>
                <a:cs typeface="Biome Light"/>
              </a:rPr>
              <a:t>Autonomus</a:t>
            </a:r>
            <a:r>
              <a:rPr lang="en-US" b="1" dirty="0">
                <a:solidFill>
                  <a:schemeClr val="bg2"/>
                </a:solidFill>
                <a:cs typeface="Biome Light"/>
              </a:rPr>
              <a:t> Uniswap Clone</a:t>
            </a:r>
          </a:p>
          <a:p>
            <a:r>
              <a:rPr lang="en-US" sz="2000">
                <a:solidFill>
                  <a:schemeClr val="bg2"/>
                </a:solidFill>
                <a:cs typeface="Biome Light"/>
              </a:rPr>
              <a:t>Ceo =  Ali Hamza</a:t>
            </a:r>
            <a:endParaRPr lang="en-US" sz="2000" dirty="0">
              <a:solidFill>
                <a:schemeClr val="bg2"/>
              </a:solidFill>
            </a:endParaRP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338139" y="365125"/>
            <a:ext cx="4966564" cy="1936866"/>
          </a:xfrm>
        </p:spPr>
        <p:txBody>
          <a:bodyPr/>
          <a:lstStyle/>
          <a:p>
            <a:r>
              <a:rPr lang="en-US" b="1" dirty="0">
                <a:solidFill>
                  <a:schemeClr val="accent4">
                    <a:lumMod val="76000"/>
                  </a:schemeClr>
                </a:solidFill>
                <a:cs typeface="Biome"/>
              </a:rPr>
              <a:t>Problem</a:t>
            </a:r>
            <a:br>
              <a:rPr lang="en-US" b="1" dirty="0">
                <a:solidFill>
                  <a:schemeClr val="accent4">
                    <a:lumMod val="76000"/>
                  </a:schemeClr>
                </a:solidFill>
                <a:cs typeface="Biome"/>
              </a:rPr>
            </a:br>
            <a:r>
              <a:rPr lang="en-US" b="1" dirty="0">
                <a:solidFill>
                  <a:schemeClr val="accent4">
                    <a:lumMod val="76000"/>
                  </a:schemeClr>
                </a:solidFill>
                <a:cs typeface="Biome"/>
              </a:rPr>
              <a:t>Statement</a:t>
            </a:r>
            <a:endParaRPr lang="en-US" b="1" dirty="0">
              <a:solidFill>
                <a:schemeClr val="accent4">
                  <a:lumMod val="76000"/>
                </a:schemeClr>
              </a:solidFill>
            </a:endParaRP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361952" y="2824005"/>
            <a:ext cx="5419002" cy="3881436"/>
          </a:xfrm>
        </p:spPr>
        <p:txBody>
          <a:bodyPr anchor="t"/>
          <a:lstStyle/>
          <a:p>
            <a:r>
              <a:rPr lang="en-US" sz="2000" dirty="0">
                <a:cs typeface="Biome"/>
              </a:rPr>
              <a:t>1 - High learning curve for user</a:t>
            </a:r>
          </a:p>
          <a:p>
            <a:r>
              <a:rPr lang="en-US" sz="2000" dirty="0">
                <a:cs typeface="Biome"/>
              </a:rPr>
              <a:t>2 – Lack of Automation in trading and liquidity Management</a:t>
            </a:r>
          </a:p>
          <a:p>
            <a:r>
              <a:rPr lang="en-US" sz="2000" dirty="0">
                <a:cs typeface="Biome"/>
              </a:rPr>
              <a:t>3 – Price Inefficiencies and Oracle </a:t>
            </a:r>
            <a:r>
              <a:rPr lang="en-US" sz="2000">
                <a:cs typeface="Biome"/>
              </a:rPr>
              <a:t>dependence</a:t>
            </a:r>
            <a:endParaRPr lang="en-US" sz="2000" dirty="0">
              <a:cs typeface="Biome"/>
            </a:endParaRPr>
          </a:p>
          <a:p>
            <a:r>
              <a:rPr lang="en-US" sz="2000" dirty="0">
                <a:cs typeface="Biome"/>
              </a:rPr>
              <a:t>4 – Complex User Experience</a:t>
            </a:r>
          </a:p>
          <a:p>
            <a:r>
              <a:rPr lang="en-US" sz="2000">
                <a:cs typeface="Biome"/>
              </a:rPr>
              <a:t>5 – Trust and Security Concerns</a:t>
            </a:r>
            <a:endParaRPr lang="en-US" sz="2000" dirty="0"/>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F7C5-CBA2-9823-0CBA-5BD773998046}"/>
              </a:ext>
            </a:extLst>
          </p:cNvPr>
          <p:cNvSpPr>
            <a:spLocks noGrp="1"/>
          </p:cNvSpPr>
          <p:nvPr>
            <p:ph type="title"/>
          </p:nvPr>
        </p:nvSpPr>
        <p:spPr>
          <a:xfrm>
            <a:off x="321869" y="376714"/>
            <a:ext cx="11560167" cy="5566993"/>
          </a:xfrm>
        </p:spPr>
        <p:txBody>
          <a:bodyPr/>
          <a:lstStyle/>
          <a:p>
            <a:r>
              <a:rPr lang="en-US" sz="3600" b="1">
                <a:solidFill>
                  <a:schemeClr val="accent4">
                    <a:lumMod val="76000"/>
                  </a:schemeClr>
                </a:solidFill>
                <a:cs typeface="Biome"/>
              </a:rPr>
              <a:t>Problem SummARY</a:t>
            </a:r>
            <a:br>
              <a:rPr lang="en-US" b="1" dirty="0"/>
            </a:br>
            <a:br>
              <a:rPr lang="en-US" dirty="0">
                <a:solidFill>
                  <a:srgbClr val="FFFFFF"/>
                </a:solidFill>
              </a:rPr>
            </a:br>
            <a:r>
              <a:rPr lang="en-US" sz="2800">
                <a:solidFill>
                  <a:srgbClr val="FFFFFF"/>
                </a:solidFill>
                <a:ea typeface="+mj-lt"/>
                <a:cs typeface="+mj-lt"/>
              </a:rPr>
              <a:t>Current decentralized exchanges like Uniswap provide liquidity and swaps but lack automation, intelligence, and user-friendly management of liquidity and trading — this project solves the problem by integrating autonomous agents</a:t>
            </a:r>
            <a:r>
              <a:rPr lang="en-US" sz="2800" dirty="0">
                <a:solidFill>
                  <a:srgbClr val="FFFFFF"/>
                </a:solidFill>
                <a:ea typeface="+mj-lt"/>
                <a:cs typeface="+mj-lt"/>
              </a:rPr>
              <a:t> </a:t>
            </a:r>
            <a:r>
              <a:rPr lang="en-US" sz="2800">
                <a:solidFill>
                  <a:srgbClr val="FFFFFF"/>
                </a:solidFill>
                <a:ea typeface="+mj-lt"/>
                <a:cs typeface="+mj-lt"/>
              </a:rPr>
              <a:t>(via MCP server) into a Uniswap-like DEX, making DeFi smarter, safer, and easier for users</a:t>
            </a:r>
            <a:r>
              <a:rPr lang="en-US" sz="2000">
                <a:solidFill>
                  <a:srgbClr val="FFFFFF"/>
                </a:solidFill>
                <a:ea typeface="+mj-lt"/>
                <a:cs typeface="+mj-lt"/>
              </a:rPr>
              <a:t>.</a:t>
            </a:r>
            <a:br>
              <a:rPr lang="en-US" dirty="0"/>
            </a:br>
            <a:endParaRPr lang="en-US">
              <a:solidFill>
                <a:schemeClr val="bg2"/>
              </a:solidFill>
            </a:endParaRP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p:txBody>
          <a:bodyPr/>
          <a:lstStyle/>
          <a:p>
            <a:fld id="{FE024F78-56A6-7740-B68D-8D4D026EDF3F}" type="slidenum">
              <a:rPr lang="en-US" smtClean="0"/>
              <a:pPr/>
              <a:t>3</a:t>
            </a:fld>
            <a:endParaRPr lang="en-US" dirty="0"/>
          </a:p>
        </p:txBody>
      </p:sp>
    </p:spTree>
    <p:extLst>
      <p:ext uri="{BB962C8B-B14F-4D97-AF65-F5344CB8AC3E}">
        <p14:creationId xmlns:p14="http://schemas.microsoft.com/office/powerpoint/2010/main" val="139719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EFE388-CD0B-9671-4D4E-D6D8004C8851}"/>
              </a:ext>
            </a:extLst>
          </p:cNvPr>
          <p:cNvSpPr>
            <a:spLocks noGrp="1"/>
          </p:cNvSpPr>
          <p:nvPr>
            <p:ph type="title"/>
          </p:nvPr>
        </p:nvSpPr>
        <p:spPr/>
        <p:txBody>
          <a:bodyPr/>
          <a:lstStyle/>
          <a:p>
            <a:r>
              <a:rPr lang="en-US" dirty="0"/>
              <a:t>Overcoming </a:t>
            </a:r>
          </a:p>
        </p:txBody>
      </p:sp>
      <p:sp>
        <p:nvSpPr>
          <p:cNvPr id="5" name="Subtitle 4">
            <a:extLst>
              <a:ext uri="{FF2B5EF4-FFF2-40B4-BE49-F238E27FC236}">
                <a16:creationId xmlns:a16="http://schemas.microsoft.com/office/drawing/2014/main" id="{BE4E0F37-0AD5-833C-CBE5-EAE02EC46069}"/>
              </a:ext>
            </a:extLst>
          </p:cNvPr>
          <p:cNvSpPr>
            <a:spLocks noGrp="1"/>
          </p:cNvSpPr>
          <p:nvPr>
            <p:ph type="subTitle" idx="1"/>
          </p:nvPr>
        </p:nvSpPr>
        <p:spPr>
          <a:xfrm>
            <a:off x="219234" y="519959"/>
            <a:ext cx="5541487" cy="6507427"/>
          </a:xfrm>
        </p:spPr>
        <p:txBody>
          <a:bodyPr vert="horz" lIns="91440" tIns="45720" rIns="91440" bIns="45720" rtlCol="0" anchor="t">
            <a:noAutofit/>
          </a:bodyPr>
          <a:lstStyle/>
          <a:p>
            <a:r>
              <a:rPr lang="en-US" sz="2400" b="1">
                <a:solidFill>
                  <a:schemeClr val="accent3">
                    <a:lumMod val="20000"/>
                    <a:lumOff val="80000"/>
                  </a:schemeClr>
                </a:solidFill>
                <a:cs typeface="Biome Light"/>
              </a:rPr>
              <a:t>OBJECTIVEs of The Project</a:t>
            </a:r>
            <a:endParaRPr lang="en-US" sz="2400" b="1">
              <a:solidFill>
                <a:schemeClr val="accent3">
                  <a:lumMod val="20000"/>
                  <a:lumOff val="80000"/>
                </a:schemeClr>
              </a:solidFill>
            </a:endParaRPr>
          </a:p>
          <a:p>
            <a:r>
              <a:rPr lang="en-US" sz="1800" b="1" i="1">
                <a:solidFill>
                  <a:schemeClr val="bg1">
                    <a:lumMod val="95000"/>
                  </a:schemeClr>
                </a:solidFill>
                <a:cs typeface="Biome Light"/>
              </a:rPr>
              <a:t>1- Implement core Decentralised Exchange Functionalities</a:t>
            </a:r>
          </a:p>
          <a:p>
            <a:r>
              <a:rPr lang="en-US" sz="1800" b="1" i="1">
                <a:solidFill>
                  <a:schemeClr val="bg1">
                    <a:lumMod val="95000"/>
                  </a:schemeClr>
                </a:solidFill>
                <a:cs typeface="Biome Light"/>
              </a:rPr>
              <a:t>2- Integrate Autonomus Agent</a:t>
            </a:r>
            <a:endParaRPr lang="en-US" sz="1800" b="1" i="1">
              <a:solidFill>
                <a:schemeClr val="bg1">
                  <a:lumMod val="95000"/>
                </a:schemeClr>
              </a:solidFill>
            </a:endParaRPr>
          </a:p>
          <a:p>
            <a:r>
              <a:rPr lang="en-US" sz="1800" b="1" i="1">
                <a:solidFill>
                  <a:schemeClr val="bg1">
                    <a:lumMod val="95000"/>
                  </a:schemeClr>
                </a:solidFill>
                <a:cs typeface="Biome Light"/>
              </a:rPr>
              <a:t>3- Enable INTELLIGENT Liquidity management</a:t>
            </a:r>
          </a:p>
          <a:p>
            <a:r>
              <a:rPr lang="en-US" sz="1800" b="1" i="1">
                <a:solidFill>
                  <a:schemeClr val="bg1">
                    <a:lumMod val="95000"/>
                  </a:schemeClr>
                </a:solidFill>
                <a:cs typeface="Biome Light"/>
              </a:rPr>
              <a:t>4-Ensure Transparency and security</a:t>
            </a:r>
            <a:endParaRPr lang="en-US" sz="1800" b="1" i="1">
              <a:solidFill>
                <a:schemeClr val="bg1">
                  <a:lumMod val="95000"/>
                </a:schemeClr>
              </a:solidFill>
            </a:endParaRPr>
          </a:p>
          <a:p>
            <a:r>
              <a:rPr lang="en-US" sz="1800" b="1" i="1">
                <a:solidFill>
                  <a:schemeClr val="bg1">
                    <a:lumMod val="95000"/>
                  </a:schemeClr>
                </a:solidFill>
                <a:cs typeface="Biome Light"/>
              </a:rPr>
              <a:t>5-develop analytics and insights</a:t>
            </a:r>
            <a:endParaRPr lang="en-US" sz="1800" b="1" i="1">
              <a:solidFill>
                <a:schemeClr val="bg1">
                  <a:lumMod val="95000"/>
                </a:schemeClr>
              </a:solidFill>
            </a:endParaRPr>
          </a:p>
          <a:p>
            <a:r>
              <a:rPr lang="en-US" sz="1800" b="1" i="1">
                <a:solidFill>
                  <a:schemeClr val="bg1">
                    <a:lumMod val="95000"/>
                  </a:schemeClr>
                </a:solidFill>
                <a:cs typeface="Biome Light"/>
              </a:rPr>
              <a:t>6-scalability and deployment</a:t>
            </a:r>
            <a:endParaRPr lang="en-US" sz="1800" b="1" dirty="0">
              <a:solidFill>
                <a:schemeClr val="bg1">
                  <a:lumMod val="95000"/>
                </a:schemeClr>
              </a:solidFill>
            </a:endParaRPr>
          </a:p>
          <a:p>
            <a:endParaRPr lang="en-US" sz="2000" i="1" dirty="0">
              <a:solidFill>
                <a:schemeClr val="bg1">
                  <a:lumMod val="95000"/>
                </a:schemeClr>
              </a:solidFill>
            </a:endParaRPr>
          </a:p>
          <a:p>
            <a:endParaRPr lang="en-US" sz="2000" i="1" dirty="0">
              <a:solidFill>
                <a:schemeClr val="bg1">
                  <a:lumMod val="95000"/>
                </a:schemeClr>
              </a:solidFill>
            </a:endParaRPr>
          </a:p>
          <a:p>
            <a:endParaRPr lang="en-US" sz="2000" i="1" dirty="0">
              <a:solidFill>
                <a:srgbClr val="F2F2F2"/>
              </a:solidFill>
            </a:endParaRPr>
          </a:p>
          <a:p>
            <a:endParaRPr lang="en-US" sz="2000" dirty="0">
              <a:solidFill>
                <a:srgbClr val="FFFFFF"/>
              </a:solidFill>
            </a:endParaRPr>
          </a:p>
          <a:p>
            <a:endParaRPr lang="en-US" sz="2000" dirty="0">
              <a:solidFill>
                <a:srgbClr val="C9C9C9"/>
              </a:solidFill>
            </a:endParaRPr>
          </a:p>
          <a:p>
            <a:endParaRPr lang="en-US" sz="2000" dirty="0">
              <a:solidFill>
                <a:srgbClr val="C9C9C9"/>
              </a:solidFill>
            </a:endParaRPr>
          </a:p>
          <a:p>
            <a:endParaRPr lang="en-US" sz="2000" dirty="0">
              <a:solidFill>
                <a:srgbClr val="F2F2F2"/>
              </a:solidFill>
            </a:endParaRPr>
          </a:p>
          <a:p>
            <a:endParaRPr lang="en-US" sz="2000" dirty="0">
              <a:solidFill>
                <a:srgbClr val="FFFFFF"/>
              </a:solidFill>
            </a:endParaRPr>
          </a:p>
          <a:p>
            <a:endParaRPr lang="en-US" sz="2000" dirty="0">
              <a:solidFill>
                <a:schemeClr val="bg2">
                  <a:lumMod val="95000"/>
                </a:schemeClr>
              </a:solidFill>
            </a:endParaRPr>
          </a:p>
          <a:p>
            <a:endParaRPr lang="en-US" sz="2000" dirty="0">
              <a:solidFill>
                <a:schemeClr val="bg2">
                  <a:lumMod val="95000"/>
                </a:schemeClr>
              </a:solidFill>
            </a:endParaRPr>
          </a:p>
        </p:txBody>
      </p:sp>
      <p:pic>
        <p:nvPicPr>
          <p:cNvPr id="8" name="Picture Placeholder 7" descr="A blue and purple spirals">
            <a:extLst>
              <a:ext uri="{FF2B5EF4-FFF2-40B4-BE49-F238E27FC236}">
                <a16:creationId xmlns:a16="http://schemas.microsoft.com/office/drawing/2014/main" id="{E1DBD4C7-D952-4426-40FD-8799F80F821F}"/>
              </a:ext>
            </a:extLst>
          </p:cNvPr>
          <p:cNvPicPr>
            <a:picLocks noGrp="1" noChangeAspect="1"/>
          </p:cNvPicPr>
          <p:nvPr>
            <p:ph type="pic" sz="quarter" idx="13"/>
          </p:nvPr>
        </p:nvPicPr>
        <p:blipFill>
          <a:blip r:embed="rId3"/>
          <a:srcRect t="31" b="31"/>
          <a:stretch/>
        </p:blipFill>
        <p:spPr/>
      </p:pic>
      <p:sp>
        <p:nvSpPr>
          <p:cNvPr id="4" name="Slide Number Placeholder 3">
            <a:extLst>
              <a:ext uri="{FF2B5EF4-FFF2-40B4-BE49-F238E27FC236}">
                <a16:creationId xmlns:a16="http://schemas.microsoft.com/office/drawing/2014/main" id="{67D6EA54-3083-FB0D-9011-2353791B0495}"/>
              </a:ext>
            </a:extLst>
          </p:cNvPr>
          <p:cNvSpPr>
            <a:spLocks noGrp="1"/>
          </p:cNvSpPr>
          <p:nvPr>
            <p:ph type="sldNum" sz="quarter" idx="12"/>
          </p:nvPr>
        </p:nvSpPr>
        <p:spPr/>
        <p:txBody>
          <a:bodyPr/>
          <a:lstStyle/>
          <a:p>
            <a:fld id="{FE024F78-56A6-7740-B68D-8D4D026EDF3F}" type="slidenum">
              <a:rPr lang="en-US" smtClean="0"/>
              <a:pPr/>
              <a:t>4</a:t>
            </a:fld>
            <a:endParaRPr lang="en-US" dirty="0"/>
          </a:p>
        </p:txBody>
      </p:sp>
    </p:spTree>
    <p:extLst>
      <p:ext uri="{BB962C8B-B14F-4D97-AF65-F5344CB8AC3E}">
        <p14:creationId xmlns:p14="http://schemas.microsoft.com/office/powerpoint/2010/main" val="59814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p:txBody>
          <a:bodyPr/>
          <a:lstStyle/>
          <a:p>
            <a:r>
              <a:rPr lang="en-US" b="1">
                <a:solidFill>
                  <a:schemeClr val="accent3">
                    <a:lumMod val="20000"/>
                    <a:lumOff val="80000"/>
                  </a:schemeClr>
                </a:solidFill>
              </a:rPr>
              <a:t>Objective summary</a:t>
            </a:r>
            <a:endParaRPr lang="en-US" b="1" dirty="0">
              <a:solidFill>
                <a:schemeClr val="accent3">
                  <a:lumMod val="20000"/>
                  <a:lumOff val="80000"/>
                </a:schemeClr>
              </a:solidFill>
            </a:endParaRPr>
          </a:p>
        </p:txBody>
      </p:sp>
      <p:sp>
        <p:nvSpPr>
          <p:cNvPr id="4" name="Content Placeholder 3">
            <a:extLst>
              <a:ext uri="{FF2B5EF4-FFF2-40B4-BE49-F238E27FC236}">
                <a16:creationId xmlns:a16="http://schemas.microsoft.com/office/drawing/2014/main" id="{74160DFF-2E7E-7A22-819A-C011020DFF01}"/>
              </a:ext>
            </a:extLst>
          </p:cNvPr>
          <p:cNvSpPr>
            <a:spLocks noGrp="1"/>
          </p:cNvSpPr>
          <p:nvPr>
            <p:ph sz="quarter" idx="31"/>
          </p:nvPr>
        </p:nvSpPr>
        <p:spPr/>
        <p:txBody>
          <a:bodyPr vert="horz" lIns="91440" tIns="45720" rIns="91440" bIns="45720" rtlCol="0" anchor="t">
            <a:normAutofit/>
          </a:bodyPr>
          <a:lstStyle/>
          <a:p>
            <a:r>
              <a:rPr lang="en-US" sz="2400" cap="all"/>
              <a:t>The project aims to create a Uniswap-like DEX with intelligent agents, combining smart contracts, autonomous decision-making, and user-friendly interfaces to make DeFi more accessible, automated, and efficient.</a:t>
            </a:r>
            <a:endParaRPr lang="en-US"/>
          </a:p>
        </p:txBody>
      </p:sp>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p:txBody>
          <a:bodyPr/>
          <a:lstStyle/>
          <a:p>
            <a:fld id="{FE024F78-56A6-7740-B68D-8D4D026EDF3F}" type="slidenum">
              <a:rPr lang="en-US" smtClean="0"/>
              <a:pPr/>
              <a:t>5</a:t>
            </a:fld>
            <a:endParaRPr lang="en-US" dirty="0"/>
          </a:p>
        </p:txBody>
      </p:sp>
    </p:spTree>
    <p:extLst>
      <p:ext uri="{BB962C8B-B14F-4D97-AF65-F5344CB8AC3E}">
        <p14:creationId xmlns:p14="http://schemas.microsoft.com/office/powerpoint/2010/main" val="1962637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A29A4-AAFD-04EE-0732-0671E83D5EF1}"/>
              </a:ext>
            </a:extLst>
          </p:cNvPr>
          <p:cNvSpPr>
            <a:spLocks noGrp="1"/>
          </p:cNvSpPr>
          <p:nvPr>
            <p:ph type="title"/>
          </p:nvPr>
        </p:nvSpPr>
        <p:spPr/>
        <p:txBody>
          <a:bodyPr/>
          <a:lstStyle/>
          <a:p>
            <a:r>
              <a:rPr lang="en-US" b="1">
                <a:solidFill>
                  <a:schemeClr val="bg1"/>
                </a:solidFill>
              </a:rPr>
              <a:t>Functional  Requirements</a:t>
            </a:r>
            <a:endParaRPr lang="en-US" b="1" dirty="0">
              <a:solidFill>
                <a:schemeClr val="bg1"/>
              </a:solidFill>
            </a:endParaRPr>
          </a:p>
        </p:txBody>
      </p:sp>
      <p:sp>
        <p:nvSpPr>
          <p:cNvPr id="4" name="Content Placeholder 3">
            <a:extLst>
              <a:ext uri="{FF2B5EF4-FFF2-40B4-BE49-F238E27FC236}">
                <a16:creationId xmlns:a16="http://schemas.microsoft.com/office/drawing/2014/main" id="{9B774F1A-D233-C240-B22D-F82C6161FAC1}"/>
              </a:ext>
            </a:extLst>
          </p:cNvPr>
          <p:cNvSpPr>
            <a:spLocks noGrp="1"/>
          </p:cNvSpPr>
          <p:nvPr>
            <p:ph sz="quarter" idx="36"/>
          </p:nvPr>
        </p:nvSpPr>
        <p:spPr>
          <a:xfrm>
            <a:off x="2196941" y="2117624"/>
            <a:ext cx="9037456" cy="3885584"/>
          </a:xfrm>
        </p:spPr>
        <p:txBody>
          <a:bodyPr vert="horz" lIns="91440" tIns="45720" rIns="91440" bIns="45720" rtlCol="0" anchor="t">
            <a:normAutofit fontScale="85000" lnSpcReduction="20000"/>
          </a:bodyPr>
          <a:lstStyle/>
          <a:p>
            <a:r>
              <a:rPr lang="en-US" b="1"/>
              <a:t>Smart Contract Layer (DEX Core)</a:t>
            </a:r>
            <a:endParaRPr lang="en-US"/>
          </a:p>
          <a:p>
            <a:pPr marL="285750" indent="-285750">
              <a:buFont typeface="Arial"/>
              <a:buChar char="•"/>
            </a:pPr>
            <a:r>
              <a:rPr lang="en-US">
                <a:ea typeface="+mn-lt"/>
                <a:cs typeface="+mn-lt"/>
              </a:rPr>
              <a:t>FR1: The system must allow users to create liquidity pools for ERC20 token pairs via a Factory contract.</a:t>
            </a:r>
            <a:endParaRPr lang="en-US"/>
          </a:p>
          <a:p>
            <a:pPr marL="285750" indent="-285750">
              <a:buFont typeface="Arial"/>
              <a:buChar char="•"/>
            </a:pPr>
            <a:r>
              <a:rPr lang="en-US">
                <a:ea typeface="+mn-lt"/>
                <a:cs typeface="+mn-lt"/>
              </a:rPr>
              <a:t>FR2: The Pair contracts must handle token swaps using the </a:t>
            </a:r>
            <a:r>
              <a:rPr lang="en-US" b="1">
                <a:ea typeface="+mn-lt"/>
                <a:cs typeface="+mn-lt"/>
              </a:rPr>
              <a:t>x·y = k</a:t>
            </a:r>
            <a:r>
              <a:rPr lang="en-US">
                <a:ea typeface="+mn-lt"/>
                <a:cs typeface="+mn-lt"/>
              </a:rPr>
              <a:t> AMM formula.</a:t>
            </a:r>
            <a:endParaRPr lang="en-US"/>
          </a:p>
          <a:p>
            <a:pPr marL="285750" indent="-285750">
              <a:buFont typeface="Arial"/>
              <a:buChar char="•"/>
            </a:pPr>
            <a:r>
              <a:rPr lang="en-US">
                <a:ea typeface="+mn-lt"/>
                <a:cs typeface="+mn-lt"/>
              </a:rPr>
              <a:t>FR3: The Router contract must support:</a:t>
            </a:r>
            <a:endParaRPr lang="en-US"/>
          </a:p>
          <a:p>
            <a:pPr marL="568960" lvl="1">
              <a:buClr>
                <a:srgbClr val="07702C"/>
              </a:buClr>
              <a:buFont typeface="Arial"/>
              <a:buChar char="•"/>
            </a:pPr>
            <a:r>
              <a:rPr lang="en-US">
                <a:ea typeface="+mn-lt"/>
                <a:cs typeface="+mn-lt"/>
              </a:rPr>
              <a:t>Single-hop swaps (Token A ↔ Token B).</a:t>
            </a:r>
            <a:endParaRPr lang="en-US"/>
          </a:p>
          <a:p>
            <a:pPr marL="568960" lvl="1">
              <a:buClr>
                <a:srgbClr val="07702C"/>
              </a:buClr>
              <a:buFont typeface="Arial"/>
              <a:buChar char="•"/>
            </a:pPr>
            <a:r>
              <a:rPr lang="en-US">
                <a:ea typeface="+mn-lt"/>
                <a:cs typeface="+mn-lt"/>
              </a:rPr>
              <a:t>Multi-hop swaps (e.g., Token A → Token B → Token C).</a:t>
            </a:r>
            <a:endParaRPr lang="en-US"/>
          </a:p>
          <a:p>
            <a:pPr marL="568960" lvl="1">
              <a:buClr>
                <a:srgbClr val="07702C"/>
              </a:buClr>
              <a:buFont typeface="Arial"/>
              <a:buChar char="•"/>
            </a:pPr>
            <a:r>
              <a:rPr lang="en-US">
                <a:ea typeface="+mn-lt"/>
                <a:cs typeface="+mn-lt"/>
              </a:rPr>
              <a:t>Slippage protection and transaction deadlines.</a:t>
            </a:r>
            <a:endParaRPr lang="en-US"/>
          </a:p>
          <a:p>
            <a:pPr marL="285750" indent="-285750">
              <a:buClr>
                <a:srgbClr val="07702C"/>
              </a:buClr>
              <a:buFont typeface="Arial"/>
              <a:buChar char="•"/>
            </a:pPr>
            <a:r>
              <a:rPr lang="en-US">
                <a:ea typeface="+mn-lt"/>
                <a:cs typeface="+mn-lt"/>
              </a:rPr>
              <a:t>FR4: The system must issue ERC20-based LP tokens to liquidity providers when they deposit liquidity.</a:t>
            </a:r>
            <a:endParaRPr lang="en-US"/>
          </a:p>
          <a:p>
            <a:pPr marL="285750" indent="-285750">
              <a:buClr>
                <a:srgbClr val="07702C"/>
              </a:buClr>
              <a:buFont typeface="Arial"/>
              <a:buChar char="•"/>
            </a:pPr>
            <a:r>
              <a:rPr lang="en-US">
                <a:ea typeface="+mn-lt"/>
                <a:cs typeface="+mn-lt"/>
              </a:rPr>
              <a:t>FR5: The system must burn LP tokens when users withdraw liquidity and return their share of reserves + fees.</a:t>
            </a:r>
            <a:endParaRPr lang="en-US"/>
          </a:p>
          <a:p>
            <a:endParaRPr lang="en-US" dirty="0"/>
          </a:p>
        </p:txBody>
      </p:sp>
      <p:sp>
        <p:nvSpPr>
          <p:cNvPr id="5" name="Slide Number Placeholder 4">
            <a:extLst>
              <a:ext uri="{FF2B5EF4-FFF2-40B4-BE49-F238E27FC236}">
                <a16:creationId xmlns:a16="http://schemas.microsoft.com/office/drawing/2014/main" id="{23E23533-91C6-420C-B7D7-4977ACF73ACF}"/>
              </a:ext>
            </a:extLst>
          </p:cNvPr>
          <p:cNvSpPr>
            <a:spLocks noGrp="1"/>
          </p:cNvSpPr>
          <p:nvPr>
            <p:ph type="sldNum" sz="quarter" idx="12"/>
          </p:nvPr>
        </p:nvSpPr>
        <p:spPr/>
        <p:txBody>
          <a:bodyPr/>
          <a:lstStyle/>
          <a:p>
            <a:fld id="{FE024F78-56A6-7740-B68D-8D4D026EDF3F}" type="slidenum">
              <a:rPr lang="en-US" smtClean="0"/>
              <a:pPr/>
              <a:t>6</a:t>
            </a:fld>
            <a:endParaRPr lang="en-US" dirty="0"/>
          </a:p>
        </p:txBody>
      </p:sp>
    </p:spTree>
    <p:extLst>
      <p:ext uri="{BB962C8B-B14F-4D97-AF65-F5344CB8AC3E}">
        <p14:creationId xmlns:p14="http://schemas.microsoft.com/office/powerpoint/2010/main" val="1073601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E56BF-D154-9CAC-C441-ADF70AD4B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35F85-D12E-9C7C-0658-568AD4E57A9B}"/>
              </a:ext>
            </a:extLst>
          </p:cNvPr>
          <p:cNvSpPr>
            <a:spLocks noGrp="1"/>
          </p:cNvSpPr>
          <p:nvPr>
            <p:ph type="title"/>
          </p:nvPr>
        </p:nvSpPr>
        <p:spPr/>
        <p:txBody>
          <a:bodyPr/>
          <a:lstStyle/>
          <a:p>
            <a:r>
              <a:rPr lang="en-US" b="1">
                <a:solidFill>
                  <a:schemeClr val="bg1"/>
                </a:solidFill>
              </a:rPr>
              <a:t>Functional  Requirements</a:t>
            </a:r>
            <a:endParaRPr lang="en-US" b="1" dirty="0">
              <a:solidFill>
                <a:schemeClr val="bg1"/>
              </a:solidFill>
            </a:endParaRPr>
          </a:p>
        </p:txBody>
      </p:sp>
      <p:sp>
        <p:nvSpPr>
          <p:cNvPr id="4" name="Content Placeholder 3">
            <a:extLst>
              <a:ext uri="{FF2B5EF4-FFF2-40B4-BE49-F238E27FC236}">
                <a16:creationId xmlns:a16="http://schemas.microsoft.com/office/drawing/2014/main" id="{9ED49130-58C8-B42C-D66E-D96CF971A725}"/>
              </a:ext>
            </a:extLst>
          </p:cNvPr>
          <p:cNvSpPr>
            <a:spLocks noGrp="1"/>
          </p:cNvSpPr>
          <p:nvPr>
            <p:ph sz="quarter" idx="36"/>
          </p:nvPr>
        </p:nvSpPr>
        <p:spPr>
          <a:xfrm>
            <a:off x="2196941" y="2117624"/>
            <a:ext cx="9037456" cy="3885584"/>
          </a:xfrm>
        </p:spPr>
        <p:txBody>
          <a:bodyPr vert="horz" lIns="91440" tIns="45720" rIns="91440" bIns="45720" rtlCol="0" anchor="t">
            <a:normAutofit fontScale="92500" lnSpcReduction="10000"/>
          </a:bodyPr>
          <a:lstStyle/>
          <a:p>
            <a:r>
              <a:rPr lang="en-US" b="1"/>
              <a:t>Autonomous Agents &amp; MCP Server</a:t>
            </a:r>
            <a:endParaRPr lang="en-US"/>
          </a:p>
          <a:p>
            <a:pPr marL="285750" indent="-285750">
              <a:buFont typeface="Arial"/>
              <a:buChar char="•"/>
            </a:pPr>
            <a:r>
              <a:rPr lang="en-US">
                <a:ea typeface="+mn-lt"/>
                <a:cs typeface="+mn-lt"/>
              </a:rPr>
              <a:t>FR6: The system must provide an MCP server that validates </a:t>
            </a:r>
            <a:r>
              <a:rPr lang="en-US" b="1">
                <a:ea typeface="+mn-lt"/>
                <a:cs typeface="+mn-lt"/>
              </a:rPr>
              <a:t>EIP-712 signed intents</a:t>
            </a:r>
            <a:r>
              <a:rPr lang="en-US" dirty="0">
                <a:ea typeface="+mn-lt"/>
                <a:cs typeface="+mn-lt"/>
              </a:rPr>
              <a:t> </a:t>
            </a:r>
            <a:r>
              <a:rPr lang="en-US">
                <a:ea typeface="+mn-lt"/>
                <a:cs typeface="+mn-lt"/>
              </a:rPr>
              <a:t>from users before agents execute actions.</a:t>
            </a:r>
            <a:endParaRPr lang="en-US"/>
          </a:p>
          <a:p>
            <a:pPr marL="285750" indent="-285750">
              <a:buFont typeface="Arial"/>
              <a:buChar char="•"/>
            </a:pPr>
            <a:r>
              <a:rPr lang="en-US">
                <a:ea typeface="+mn-lt"/>
                <a:cs typeface="+mn-lt"/>
              </a:rPr>
              <a:t>FR7: Agents must be able to:</a:t>
            </a:r>
            <a:endParaRPr lang="en-US"/>
          </a:p>
          <a:p>
            <a:pPr marL="568960" lvl="1">
              <a:buClr>
                <a:srgbClr val="07702C"/>
              </a:buClr>
              <a:buFont typeface="Arial"/>
              <a:buChar char="•"/>
            </a:pPr>
            <a:r>
              <a:rPr lang="en-US">
                <a:ea typeface="+mn-lt"/>
                <a:cs typeface="+mn-lt"/>
              </a:rPr>
              <a:t>Monitor pool reserves and detect arbitrage opportunities.</a:t>
            </a:r>
            <a:endParaRPr lang="en-US"/>
          </a:p>
          <a:p>
            <a:pPr marL="568960" lvl="1">
              <a:buClr>
                <a:srgbClr val="07702C"/>
              </a:buClr>
              <a:buFont typeface="Arial"/>
              <a:buChar char="•"/>
            </a:pPr>
            <a:r>
              <a:rPr lang="en-US">
                <a:ea typeface="+mn-lt"/>
                <a:cs typeface="+mn-lt"/>
              </a:rPr>
              <a:t>Execute automated swaps within defined rules.</a:t>
            </a:r>
            <a:endParaRPr lang="en-US"/>
          </a:p>
          <a:p>
            <a:pPr marL="568960" lvl="1">
              <a:buClr>
                <a:srgbClr val="07702C"/>
              </a:buClr>
              <a:buFont typeface="Arial"/>
              <a:buChar char="•"/>
            </a:pPr>
            <a:r>
              <a:rPr lang="en-US">
                <a:ea typeface="+mn-lt"/>
                <a:cs typeface="+mn-lt"/>
              </a:rPr>
              <a:t>Add/remove liquidity on behalf of users based on preferences.</a:t>
            </a:r>
            <a:endParaRPr lang="en-US"/>
          </a:p>
          <a:p>
            <a:pPr marL="568960" lvl="1">
              <a:buClr>
                <a:srgbClr val="07702C"/>
              </a:buClr>
              <a:buFont typeface="Arial"/>
              <a:buChar char="•"/>
            </a:pPr>
            <a:r>
              <a:rPr lang="en-US">
                <a:ea typeface="+mn-lt"/>
                <a:cs typeface="+mn-lt"/>
              </a:rPr>
              <a:t>Provide risk management strategies to reduce impermanent loss.</a:t>
            </a:r>
            <a:endParaRPr lang="en-US"/>
          </a:p>
          <a:p>
            <a:pPr marL="285750" indent="-285750">
              <a:buClr>
                <a:srgbClr val="07702C"/>
              </a:buClr>
              <a:buFont typeface="Arial"/>
              <a:buChar char="•"/>
            </a:pPr>
            <a:r>
              <a:rPr lang="en-US">
                <a:ea typeface="+mn-lt"/>
                <a:cs typeface="+mn-lt"/>
              </a:rPr>
              <a:t>FR8: The system must allow users to configure agent permissions and automation settings (e.g., max slippage, frequency of actions).</a:t>
            </a:r>
            <a:endParaRPr lang="en-US"/>
          </a:p>
          <a:p>
            <a:endParaRPr lang="en-US" b="1" dirty="0"/>
          </a:p>
          <a:p>
            <a:endParaRPr lang="en-US" dirty="0"/>
          </a:p>
        </p:txBody>
      </p:sp>
      <p:sp>
        <p:nvSpPr>
          <p:cNvPr id="5" name="Slide Number Placeholder 4">
            <a:extLst>
              <a:ext uri="{FF2B5EF4-FFF2-40B4-BE49-F238E27FC236}">
                <a16:creationId xmlns:a16="http://schemas.microsoft.com/office/drawing/2014/main" id="{22487801-9093-E4A3-168E-2A5C13ECC994}"/>
              </a:ext>
            </a:extLst>
          </p:cNvPr>
          <p:cNvSpPr>
            <a:spLocks noGrp="1"/>
          </p:cNvSpPr>
          <p:nvPr>
            <p:ph type="sldNum" sz="quarter" idx="12"/>
          </p:nvPr>
        </p:nvSpPr>
        <p:spPr/>
        <p:txBody>
          <a:bodyPr/>
          <a:lstStyle/>
          <a:p>
            <a:fld id="{FE024F78-56A6-7740-B68D-8D4D026EDF3F}" type="slidenum">
              <a:rPr lang="en-US" smtClean="0"/>
              <a:pPr/>
              <a:t>7</a:t>
            </a:fld>
            <a:endParaRPr lang="en-US" dirty="0"/>
          </a:p>
        </p:txBody>
      </p:sp>
    </p:spTree>
    <p:extLst>
      <p:ext uri="{BB962C8B-B14F-4D97-AF65-F5344CB8AC3E}">
        <p14:creationId xmlns:p14="http://schemas.microsoft.com/office/powerpoint/2010/main" val="2938065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8FF2-8366-28A4-D73B-D81B0A6F1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FAD03-9DF9-A1C3-2FA8-5551EF272242}"/>
              </a:ext>
            </a:extLst>
          </p:cNvPr>
          <p:cNvSpPr>
            <a:spLocks noGrp="1"/>
          </p:cNvSpPr>
          <p:nvPr>
            <p:ph type="title"/>
          </p:nvPr>
        </p:nvSpPr>
        <p:spPr/>
        <p:txBody>
          <a:bodyPr/>
          <a:lstStyle/>
          <a:p>
            <a:r>
              <a:rPr lang="en-US" b="1">
                <a:solidFill>
                  <a:schemeClr val="bg1"/>
                </a:solidFill>
              </a:rPr>
              <a:t>Functional  Requirements</a:t>
            </a:r>
            <a:endParaRPr lang="en-US" b="1" dirty="0">
              <a:solidFill>
                <a:schemeClr val="bg1"/>
              </a:solidFill>
            </a:endParaRPr>
          </a:p>
        </p:txBody>
      </p:sp>
      <p:sp>
        <p:nvSpPr>
          <p:cNvPr id="4" name="Content Placeholder 3">
            <a:extLst>
              <a:ext uri="{FF2B5EF4-FFF2-40B4-BE49-F238E27FC236}">
                <a16:creationId xmlns:a16="http://schemas.microsoft.com/office/drawing/2014/main" id="{E8DE4DFB-2286-8869-23EE-6E2E6419DC8C}"/>
              </a:ext>
            </a:extLst>
          </p:cNvPr>
          <p:cNvSpPr>
            <a:spLocks noGrp="1"/>
          </p:cNvSpPr>
          <p:nvPr>
            <p:ph sz="quarter" idx="36"/>
          </p:nvPr>
        </p:nvSpPr>
        <p:spPr>
          <a:xfrm>
            <a:off x="2196941" y="2117624"/>
            <a:ext cx="9037456" cy="3885584"/>
          </a:xfrm>
        </p:spPr>
        <p:txBody>
          <a:bodyPr vert="horz" lIns="91440" tIns="45720" rIns="91440" bIns="45720" rtlCol="0" anchor="t">
            <a:normAutofit fontScale="92500" lnSpcReduction="10000"/>
          </a:bodyPr>
          <a:lstStyle/>
          <a:p>
            <a:r>
              <a:rPr lang="en-US" b="1"/>
              <a:t>Backend &amp; Database</a:t>
            </a:r>
            <a:endParaRPr lang="en-US"/>
          </a:p>
          <a:p>
            <a:pPr marL="285750" indent="-285750">
              <a:buFont typeface="Arial"/>
              <a:buChar char="•"/>
            </a:pPr>
            <a:r>
              <a:rPr lang="en-US">
                <a:ea typeface="+mn-lt"/>
                <a:cs typeface="+mn-lt"/>
              </a:rPr>
              <a:t>FR9: The backend must maintain an event indexer to capture on-chain events (</a:t>
            </a:r>
            <a:r>
              <a:rPr lang="en-US">
                <a:latin typeface="Consolas"/>
              </a:rPr>
              <a:t>Swap</a:t>
            </a:r>
            <a:r>
              <a:rPr lang="en-US">
                <a:ea typeface="+mn-lt"/>
                <a:cs typeface="+mn-lt"/>
              </a:rPr>
              <a:t>, </a:t>
            </a:r>
            <a:r>
              <a:rPr lang="en-US">
                <a:latin typeface="Consolas"/>
              </a:rPr>
              <a:t>AddLiquidity</a:t>
            </a:r>
            <a:r>
              <a:rPr lang="en-US">
                <a:ea typeface="+mn-lt"/>
                <a:cs typeface="+mn-lt"/>
              </a:rPr>
              <a:t>, </a:t>
            </a:r>
            <a:r>
              <a:rPr lang="en-US">
                <a:latin typeface="Consolas"/>
              </a:rPr>
              <a:t>RemoveLiquidity</a:t>
            </a:r>
            <a:r>
              <a:rPr lang="en-US">
                <a:ea typeface="+mn-lt"/>
                <a:cs typeface="+mn-lt"/>
              </a:rPr>
              <a:t>, </a:t>
            </a:r>
            <a:r>
              <a:rPr lang="en-US">
                <a:latin typeface="Consolas"/>
              </a:rPr>
              <a:t>Mint</a:t>
            </a:r>
            <a:r>
              <a:rPr lang="en-US">
                <a:ea typeface="+mn-lt"/>
                <a:cs typeface="+mn-lt"/>
              </a:rPr>
              <a:t>, </a:t>
            </a:r>
            <a:r>
              <a:rPr lang="en-US">
                <a:latin typeface="Consolas"/>
              </a:rPr>
              <a:t>Burn</a:t>
            </a:r>
            <a:r>
              <a:rPr lang="en-US">
                <a:ea typeface="+mn-lt"/>
                <a:cs typeface="+mn-lt"/>
              </a:rPr>
              <a:t>).</a:t>
            </a:r>
            <a:endParaRPr lang="en-US"/>
          </a:p>
          <a:p>
            <a:pPr marL="285750" indent="-285750">
              <a:buFont typeface="Arial"/>
              <a:buChar char="•"/>
            </a:pPr>
            <a:r>
              <a:rPr lang="en-US">
                <a:ea typeface="+mn-lt"/>
                <a:cs typeface="+mn-lt"/>
              </a:rPr>
              <a:t>FR10: The database must store:</a:t>
            </a:r>
            <a:endParaRPr lang="en-US"/>
          </a:p>
          <a:p>
            <a:pPr marL="568960" lvl="1">
              <a:buClr>
                <a:srgbClr val="07702C"/>
              </a:buClr>
              <a:buFont typeface="Arial"/>
              <a:buChar char="•"/>
            </a:pPr>
            <a:r>
              <a:rPr lang="en-US">
                <a:ea typeface="+mn-lt"/>
                <a:cs typeface="+mn-lt"/>
              </a:rPr>
              <a:t>User profiles and authentication data (SIWE – Sign-In with Ethereum).</a:t>
            </a:r>
            <a:endParaRPr lang="en-US"/>
          </a:p>
          <a:p>
            <a:pPr marL="568960" lvl="1">
              <a:buClr>
                <a:srgbClr val="07702C"/>
              </a:buClr>
              <a:buFont typeface="Arial"/>
              <a:buChar char="•"/>
            </a:pPr>
            <a:r>
              <a:rPr lang="en-US">
                <a:ea typeface="+mn-lt"/>
                <a:cs typeface="+mn-lt"/>
              </a:rPr>
              <a:t>Historical pool data (reserves, prices, volume).</a:t>
            </a:r>
            <a:endParaRPr lang="en-US"/>
          </a:p>
          <a:p>
            <a:pPr marL="568960" lvl="1">
              <a:buClr>
                <a:srgbClr val="07702C"/>
              </a:buClr>
              <a:buFont typeface="Arial"/>
              <a:buChar char="•"/>
            </a:pPr>
            <a:r>
              <a:rPr lang="en-US">
                <a:ea typeface="+mn-lt"/>
                <a:cs typeface="+mn-lt"/>
              </a:rPr>
              <a:t>Swap transactions and liquidity history.</a:t>
            </a:r>
            <a:endParaRPr lang="en-US"/>
          </a:p>
          <a:p>
            <a:pPr marL="568960" lvl="1">
              <a:buClr>
                <a:srgbClr val="07702C"/>
              </a:buClr>
              <a:buFont typeface="Arial"/>
              <a:buChar char="•"/>
            </a:pPr>
            <a:r>
              <a:rPr lang="en-US">
                <a:ea typeface="+mn-lt"/>
                <a:cs typeface="+mn-lt"/>
              </a:rPr>
              <a:t>Agent configurations and performance logs.</a:t>
            </a:r>
            <a:endParaRPr lang="en-US"/>
          </a:p>
          <a:p>
            <a:pPr marL="285750" indent="-285750">
              <a:buClr>
                <a:srgbClr val="07702C"/>
              </a:buClr>
              <a:buFont typeface="Arial"/>
              <a:buChar char="•"/>
            </a:pPr>
            <a:r>
              <a:rPr lang="en-US">
                <a:ea typeface="+mn-lt"/>
                <a:cs typeface="+mn-lt"/>
              </a:rPr>
              <a:t>FR11: The backend must provide APIs for querying tokens, pools, swaps, fees, and agent activity.</a:t>
            </a:r>
            <a:endParaRPr lang="en-US"/>
          </a:p>
          <a:p>
            <a:endParaRPr lang="en-US" b="1" dirty="0"/>
          </a:p>
          <a:p>
            <a:endParaRPr lang="en-US" b="1" dirty="0"/>
          </a:p>
          <a:p>
            <a:endParaRPr lang="en-US" dirty="0"/>
          </a:p>
        </p:txBody>
      </p:sp>
      <p:sp>
        <p:nvSpPr>
          <p:cNvPr id="5" name="Slide Number Placeholder 4">
            <a:extLst>
              <a:ext uri="{FF2B5EF4-FFF2-40B4-BE49-F238E27FC236}">
                <a16:creationId xmlns:a16="http://schemas.microsoft.com/office/drawing/2014/main" id="{EBA65ADE-960D-456F-E6F3-B2506AF2D0FB}"/>
              </a:ext>
            </a:extLst>
          </p:cNvPr>
          <p:cNvSpPr>
            <a:spLocks noGrp="1"/>
          </p:cNvSpPr>
          <p:nvPr>
            <p:ph type="sldNum" sz="quarter" idx="12"/>
          </p:nvPr>
        </p:nvSpPr>
        <p:spPr/>
        <p:txBody>
          <a:bodyPr/>
          <a:lstStyle/>
          <a:p>
            <a:fld id="{FE024F78-56A6-7740-B68D-8D4D026EDF3F}" type="slidenum">
              <a:rPr lang="en-US" smtClean="0"/>
              <a:pPr/>
              <a:t>8</a:t>
            </a:fld>
            <a:endParaRPr lang="en-US" dirty="0"/>
          </a:p>
        </p:txBody>
      </p:sp>
    </p:spTree>
    <p:extLst>
      <p:ext uri="{BB962C8B-B14F-4D97-AF65-F5344CB8AC3E}">
        <p14:creationId xmlns:p14="http://schemas.microsoft.com/office/powerpoint/2010/main" val="63753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64312-C370-4292-6EED-19AE4FA9F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BFC20-DB05-3A57-1D98-A0FA217718C8}"/>
              </a:ext>
            </a:extLst>
          </p:cNvPr>
          <p:cNvSpPr>
            <a:spLocks noGrp="1"/>
          </p:cNvSpPr>
          <p:nvPr>
            <p:ph type="title"/>
          </p:nvPr>
        </p:nvSpPr>
        <p:spPr/>
        <p:txBody>
          <a:bodyPr/>
          <a:lstStyle/>
          <a:p>
            <a:r>
              <a:rPr lang="en-US" b="1">
                <a:solidFill>
                  <a:schemeClr val="bg1"/>
                </a:solidFill>
              </a:rPr>
              <a:t>Functional  Requirements</a:t>
            </a:r>
            <a:endParaRPr lang="en-US" b="1" dirty="0">
              <a:solidFill>
                <a:schemeClr val="bg1"/>
              </a:solidFill>
            </a:endParaRPr>
          </a:p>
        </p:txBody>
      </p:sp>
      <p:sp>
        <p:nvSpPr>
          <p:cNvPr id="4" name="Content Placeholder 3">
            <a:extLst>
              <a:ext uri="{FF2B5EF4-FFF2-40B4-BE49-F238E27FC236}">
                <a16:creationId xmlns:a16="http://schemas.microsoft.com/office/drawing/2014/main" id="{F8923DC4-EC1E-8C19-08B8-BF4BD0A7E2A4}"/>
              </a:ext>
            </a:extLst>
          </p:cNvPr>
          <p:cNvSpPr>
            <a:spLocks noGrp="1"/>
          </p:cNvSpPr>
          <p:nvPr>
            <p:ph sz="quarter" idx="36"/>
          </p:nvPr>
        </p:nvSpPr>
        <p:spPr>
          <a:xfrm>
            <a:off x="2196941" y="2236686"/>
            <a:ext cx="9037456" cy="3766522"/>
          </a:xfrm>
        </p:spPr>
        <p:txBody>
          <a:bodyPr vert="horz" lIns="91440" tIns="45720" rIns="91440" bIns="45720" rtlCol="0" anchor="t">
            <a:normAutofit fontScale="77500" lnSpcReduction="20000"/>
          </a:bodyPr>
          <a:lstStyle/>
          <a:p>
            <a:r>
              <a:rPr lang="en-US" b="1"/>
              <a:t>Frontend (Web dApp)</a:t>
            </a:r>
            <a:endParaRPr lang="en-US"/>
          </a:p>
          <a:p>
            <a:pPr marL="285750" indent="-285750">
              <a:buFont typeface="Arial"/>
              <a:buChar char="•"/>
            </a:pPr>
            <a:r>
              <a:rPr lang="en-US">
                <a:ea typeface="+mn-lt"/>
                <a:cs typeface="+mn-lt"/>
              </a:rPr>
              <a:t>FR12: The frontend must provide a </a:t>
            </a:r>
            <a:r>
              <a:rPr lang="en-US" b="1">
                <a:ea typeface="+mn-lt"/>
                <a:cs typeface="+mn-lt"/>
              </a:rPr>
              <a:t>Swap interface</a:t>
            </a:r>
            <a:r>
              <a:rPr lang="en-US">
                <a:ea typeface="+mn-lt"/>
                <a:cs typeface="+mn-lt"/>
              </a:rPr>
              <a:t> with:</a:t>
            </a:r>
            <a:endParaRPr lang="en-US"/>
          </a:p>
          <a:p>
            <a:pPr marL="568960" lvl="1">
              <a:buClr>
                <a:srgbClr val="07702C"/>
              </a:buClr>
              <a:buFont typeface="Arial"/>
              <a:buChar char="•"/>
            </a:pPr>
            <a:r>
              <a:rPr lang="en-US">
                <a:ea typeface="+mn-lt"/>
                <a:cs typeface="+mn-lt"/>
              </a:rPr>
              <a:t>Token selection and price preview.</a:t>
            </a:r>
            <a:endParaRPr lang="en-US"/>
          </a:p>
          <a:p>
            <a:pPr marL="568960" lvl="1">
              <a:buClr>
                <a:srgbClr val="07702C"/>
              </a:buClr>
              <a:buFont typeface="Arial"/>
              <a:buChar char="•"/>
            </a:pPr>
            <a:r>
              <a:rPr lang="en-US">
                <a:ea typeface="+mn-lt"/>
                <a:cs typeface="+mn-lt"/>
              </a:rPr>
              <a:t>Slippage tolerance settings.</a:t>
            </a:r>
            <a:endParaRPr lang="en-US"/>
          </a:p>
          <a:p>
            <a:pPr marL="568960" lvl="1">
              <a:buClr>
                <a:srgbClr val="07702C"/>
              </a:buClr>
              <a:buFont typeface="Arial"/>
              <a:buChar char="•"/>
            </a:pPr>
            <a:r>
              <a:rPr lang="en-US">
                <a:ea typeface="+mn-lt"/>
                <a:cs typeface="+mn-lt"/>
              </a:rPr>
              <a:t>Transaction status updates.</a:t>
            </a:r>
            <a:endParaRPr lang="en-US"/>
          </a:p>
          <a:p>
            <a:pPr marL="285750" indent="-285750">
              <a:buClr>
                <a:srgbClr val="07702C"/>
              </a:buClr>
              <a:buFont typeface="Arial"/>
              <a:buChar char="•"/>
            </a:pPr>
            <a:r>
              <a:rPr lang="en-US">
                <a:ea typeface="+mn-lt"/>
                <a:cs typeface="+mn-lt"/>
              </a:rPr>
              <a:t>FR13: The frontend must provide a </a:t>
            </a:r>
            <a:r>
              <a:rPr lang="en-US" b="1">
                <a:ea typeface="+mn-lt"/>
                <a:cs typeface="+mn-lt"/>
              </a:rPr>
              <a:t>Liquidity interface</a:t>
            </a:r>
            <a:r>
              <a:rPr lang="en-US">
                <a:ea typeface="+mn-lt"/>
                <a:cs typeface="+mn-lt"/>
              </a:rPr>
              <a:t> to add/remove liquidity and view LP balances.</a:t>
            </a:r>
            <a:endParaRPr lang="en-US"/>
          </a:p>
          <a:p>
            <a:pPr marL="285750" indent="-285750">
              <a:buClr>
                <a:srgbClr val="07702C"/>
              </a:buClr>
              <a:buFont typeface="Arial"/>
              <a:buChar char="•"/>
            </a:pPr>
            <a:r>
              <a:rPr lang="en-US">
                <a:ea typeface="+mn-lt"/>
                <a:cs typeface="+mn-lt"/>
              </a:rPr>
              <a:t>FR14: The frontend must include an </a:t>
            </a:r>
            <a:r>
              <a:rPr lang="en-US" b="1">
                <a:ea typeface="+mn-lt"/>
                <a:cs typeface="+mn-lt"/>
              </a:rPr>
              <a:t>Agent Dashboard</a:t>
            </a:r>
            <a:r>
              <a:rPr lang="en-US">
                <a:ea typeface="+mn-lt"/>
                <a:cs typeface="+mn-lt"/>
              </a:rPr>
              <a:t> where users can:</a:t>
            </a:r>
            <a:endParaRPr lang="en-US"/>
          </a:p>
          <a:p>
            <a:pPr marL="568960" lvl="1">
              <a:buClr>
                <a:srgbClr val="07702C"/>
              </a:buClr>
              <a:buFont typeface="Arial"/>
              <a:buChar char="•"/>
            </a:pPr>
            <a:r>
              <a:rPr lang="en-US">
                <a:ea typeface="+mn-lt"/>
                <a:cs typeface="+mn-lt"/>
              </a:rPr>
              <a:t>Enable/disable automation.</a:t>
            </a:r>
            <a:endParaRPr lang="en-US"/>
          </a:p>
          <a:p>
            <a:pPr marL="568960" lvl="1">
              <a:buClr>
                <a:srgbClr val="07702C"/>
              </a:buClr>
              <a:buFont typeface="Arial"/>
              <a:buChar char="•"/>
            </a:pPr>
            <a:r>
              <a:rPr lang="en-US">
                <a:ea typeface="+mn-lt"/>
                <a:cs typeface="+mn-lt"/>
              </a:rPr>
              <a:t>Set preferences (risk tolerance, slippage limits, pool focus).</a:t>
            </a:r>
            <a:endParaRPr lang="en-US"/>
          </a:p>
          <a:p>
            <a:pPr marL="568960" lvl="1">
              <a:buClr>
                <a:srgbClr val="07702C"/>
              </a:buClr>
              <a:buFont typeface="Arial"/>
              <a:buChar char="•"/>
            </a:pPr>
            <a:r>
              <a:rPr lang="en-US">
                <a:ea typeface="+mn-lt"/>
                <a:cs typeface="+mn-lt"/>
              </a:rPr>
              <a:t>Track agent actions and results.</a:t>
            </a:r>
            <a:endParaRPr lang="en-US"/>
          </a:p>
          <a:p>
            <a:pPr marL="285750" indent="-285750">
              <a:buClr>
                <a:srgbClr val="07702C"/>
              </a:buClr>
              <a:buFont typeface="Arial"/>
              <a:buChar char="•"/>
            </a:pPr>
            <a:r>
              <a:rPr lang="en-US">
                <a:ea typeface="+mn-lt"/>
                <a:cs typeface="+mn-lt"/>
              </a:rPr>
              <a:t>FR15: The frontend must support wallet integrations (MetaMask, WalletConnect).</a:t>
            </a:r>
            <a:endParaRPr lang="en-US"/>
          </a:p>
          <a:p>
            <a:endParaRPr lang="en-US" b="1" dirty="0"/>
          </a:p>
          <a:p>
            <a:endParaRPr lang="en-US" dirty="0"/>
          </a:p>
        </p:txBody>
      </p:sp>
      <p:sp>
        <p:nvSpPr>
          <p:cNvPr id="5" name="Slide Number Placeholder 4">
            <a:extLst>
              <a:ext uri="{FF2B5EF4-FFF2-40B4-BE49-F238E27FC236}">
                <a16:creationId xmlns:a16="http://schemas.microsoft.com/office/drawing/2014/main" id="{37B00736-98CE-2C71-F5D7-A2E5B6E89488}"/>
              </a:ext>
            </a:extLst>
          </p:cNvPr>
          <p:cNvSpPr>
            <a:spLocks noGrp="1"/>
          </p:cNvSpPr>
          <p:nvPr>
            <p:ph type="sldNum" sz="quarter" idx="12"/>
          </p:nvPr>
        </p:nvSpPr>
        <p:spPr/>
        <p:txBody>
          <a:bodyPr/>
          <a:lstStyle/>
          <a:p>
            <a:fld id="{FE024F78-56A6-7740-B68D-8D4D026EDF3F}" type="slidenum">
              <a:rPr lang="en-US" smtClean="0"/>
              <a:pPr/>
              <a:t>9</a:t>
            </a:fld>
            <a:endParaRPr lang="en-US" dirty="0"/>
          </a:p>
        </p:txBody>
      </p:sp>
    </p:spTree>
    <p:extLst>
      <p:ext uri="{BB962C8B-B14F-4D97-AF65-F5344CB8AC3E}">
        <p14:creationId xmlns:p14="http://schemas.microsoft.com/office/powerpoint/2010/main" val="1274708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3E06-8BEA-1DD3-D0D6-391C08880EBF}"/>
              </a:ext>
            </a:extLst>
          </p:cNvPr>
          <p:cNvSpPr>
            <a:spLocks noGrp="1"/>
          </p:cNvSpPr>
          <p:nvPr>
            <p:ph type="title"/>
          </p:nvPr>
        </p:nvSpPr>
        <p:spPr>
          <a:xfrm>
            <a:off x="741680" y="430482"/>
            <a:ext cx="10500989" cy="994090"/>
          </a:xfrm>
        </p:spPr>
        <p:txBody>
          <a:bodyPr/>
          <a:lstStyle/>
          <a:p>
            <a:r>
              <a:rPr lang="en-US">
                <a:solidFill>
                  <a:schemeClr val="bg2"/>
                </a:solidFill>
              </a:rPr>
              <a:t>NON Functional requirements</a:t>
            </a:r>
            <a:endParaRPr lang="en-US" dirty="0">
              <a:solidFill>
                <a:schemeClr val="bg2"/>
              </a:solidFill>
            </a:endParaRPr>
          </a:p>
        </p:txBody>
      </p:sp>
      <p:sp>
        <p:nvSpPr>
          <p:cNvPr id="4" name="Content Placeholder 3">
            <a:extLst>
              <a:ext uri="{FF2B5EF4-FFF2-40B4-BE49-F238E27FC236}">
                <a16:creationId xmlns:a16="http://schemas.microsoft.com/office/drawing/2014/main" id="{3770D91C-D5C0-248C-26D3-DE7C7C72E632}"/>
              </a:ext>
            </a:extLst>
          </p:cNvPr>
          <p:cNvSpPr>
            <a:spLocks noGrp="1"/>
          </p:cNvSpPr>
          <p:nvPr>
            <p:ph sz="quarter" idx="36"/>
          </p:nvPr>
        </p:nvSpPr>
        <p:spPr>
          <a:xfrm>
            <a:off x="891381" y="2084539"/>
            <a:ext cx="6315069" cy="4509565"/>
          </a:xfrm>
        </p:spPr>
        <p:txBody>
          <a:bodyPr vert="horz" lIns="91440" tIns="45720" rIns="91440" bIns="45720" rtlCol="0" anchor="t">
            <a:noAutofit/>
          </a:bodyPr>
          <a:lstStyle/>
          <a:p>
            <a:r>
              <a:rPr lang="en-US" sz="1200" b="1"/>
              <a:t>2.1 Performance</a:t>
            </a:r>
            <a:endParaRPr lang="en-US" sz="1200" dirty="0"/>
          </a:p>
          <a:p>
            <a:pPr marL="285750" indent="-285750">
              <a:buFont typeface="Arial"/>
              <a:buChar char="•"/>
            </a:pPr>
            <a:r>
              <a:rPr lang="en-US" sz="1200">
                <a:ea typeface="+mn-lt"/>
                <a:cs typeface="+mn-lt"/>
              </a:rPr>
              <a:t>NFR1: The system should be able to process at least </a:t>
            </a:r>
            <a:r>
              <a:rPr lang="en-US" sz="1200" b="1">
                <a:ea typeface="+mn-lt"/>
                <a:cs typeface="+mn-lt"/>
              </a:rPr>
              <a:t>100 swap transactions per second</a:t>
            </a:r>
            <a:r>
              <a:rPr lang="en-US" sz="1200">
                <a:ea typeface="+mn-lt"/>
                <a:cs typeface="+mn-lt"/>
              </a:rPr>
              <a:t> on the backend API.</a:t>
            </a:r>
            <a:endParaRPr lang="en-US" sz="1200" dirty="0"/>
          </a:p>
          <a:p>
            <a:pPr marL="285750" indent="-285750">
              <a:buFont typeface="Arial"/>
              <a:buChar char="•"/>
            </a:pPr>
            <a:r>
              <a:rPr lang="en-US" sz="1200">
                <a:ea typeface="+mn-lt"/>
                <a:cs typeface="+mn-lt"/>
              </a:rPr>
              <a:t>NFR2: Latency for querying pool data should not exceed </a:t>
            </a:r>
            <a:r>
              <a:rPr lang="en-US" sz="1200" b="1">
                <a:ea typeface="+mn-lt"/>
                <a:cs typeface="+mn-lt"/>
              </a:rPr>
              <a:t>500 ms</a:t>
            </a:r>
            <a:r>
              <a:rPr lang="en-US" sz="1200">
                <a:ea typeface="+mn-lt"/>
                <a:cs typeface="+mn-lt"/>
              </a:rPr>
              <a:t>.</a:t>
            </a:r>
            <a:endParaRPr lang="en-US" sz="1200" dirty="0"/>
          </a:p>
          <a:p>
            <a:r>
              <a:rPr lang="en-US" sz="1200" b="1"/>
              <a:t>2.2 Security</a:t>
            </a:r>
            <a:endParaRPr lang="en-US" sz="1200" dirty="0"/>
          </a:p>
          <a:p>
            <a:pPr marL="285750" indent="-285750">
              <a:buFont typeface="Arial"/>
              <a:buChar char="•"/>
            </a:pPr>
            <a:r>
              <a:rPr lang="en-US" sz="1200">
                <a:ea typeface="+mn-lt"/>
                <a:cs typeface="+mn-lt"/>
              </a:rPr>
              <a:t>NFR3: Smart contracts must follow OpenZeppelin security standards.</a:t>
            </a:r>
            <a:endParaRPr lang="en-US" sz="1200" dirty="0"/>
          </a:p>
          <a:p>
            <a:pPr marL="285750" indent="-285750">
              <a:buFont typeface="Arial"/>
              <a:buChar char="•"/>
            </a:pPr>
            <a:r>
              <a:rPr lang="en-US" sz="1200">
                <a:ea typeface="+mn-lt"/>
                <a:cs typeface="+mn-lt"/>
              </a:rPr>
              <a:t>NFR4: Authentication must be based on </a:t>
            </a:r>
            <a:r>
              <a:rPr lang="en-US" sz="1200" b="1">
                <a:ea typeface="+mn-lt"/>
                <a:cs typeface="+mn-lt"/>
              </a:rPr>
              <a:t>SIWE (Sign-In with Ethereum)</a:t>
            </a:r>
            <a:r>
              <a:rPr lang="en-US" sz="1200" dirty="0">
                <a:ea typeface="+mn-lt"/>
                <a:cs typeface="+mn-lt"/>
              </a:rPr>
              <a:t> </a:t>
            </a:r>
            <a:r>
              <a:rPr lang="en-US" sz="1200">
                <a:ea typeface="+mn-lt"/>
                <a:cs typeface="+mn-lt"/>
              </a:rPr>
              <a:t>with nonce protection.</a:t>
            </a:r>
            <a:endParaRPr lang="en-US" sz="1200" dirty="0"/>
          </a:p>
          <a:p>
            <a:pPr marL="285750" indent="-285750">
              <a:buFont typeface="Arial"/>
              <a:buChar char="•"/>
            </a:pPr>
            <a:r>
              <a:rPr lang="en-US" sz="1200">
                <a:ea typeface="+mn-lt"/>
                <a:cs typeface="+mn-lt"/>
              </a:rPr>
              <a:t>NFR5: MCP server must verify signatures before executing any agent intent.</a:t>
            </a:r>
            <a:endParaRPr lang="en-US" sz="1200" dirty="0"/>
          </a:p>
          <a:p>
            <a:r>
              <a:rPr lang="en-US" sz="1200" b="1"/>
              <a:t>2.3 Scalability</a:t>
            </a:r>
            <a:endParaRPr lang="en-US" sz="1200" dirty="0"/>
          </a:p>
          <a:p>
            <a:pPr marL="285750" indent="-285750">
              <a:buFont typeface="Arial"/>
              <a:buChar char="•"/>
            </a:pPr>
            <a:r>
              <a:rPr lang="en-US" sz="1200">
                <a:ea typeface="+mn-lt"/>
                <a:cs typeface="+mn-lt"/>
              </a:rPr>
              <a:t>NFR6: The backend must be containerized (Docker) and deployable on cloud services (AWS/GCP/Render).</a:t>
            </a:r>
            <a:endParaRPr lang="en-US" sz="1200" dirty="0"/>
          </a:p>
          <a:p>
            <a:pPr marL="285750" indent="-285750">
              <a:buFont typeface="Arial"/>
              <a:buChar char="•"/>
            </a:pPr>
            <a:r>
              <a:rPr lang="en-US" sz="1200">
                <a:ea typeface="+mn-lt"/>
                <a:cs typeface="+mn-lt"/>
              </a:rPr>
              <a:t>NFR7: The architecture must support horizontal scaling of agent services.</a:t>
            </a:r>
            <a:endParaRPr lang="en-US" sz="1200" dirty="0"/>
          </a:p>
          <a:p>
            <a:endParaRPr lang="en-US" sz="1200" dirty="0"/>
          </a:p>
        </p:txBody>
      </p:sp>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p:txBody>
          <a:bodyPr/>
          <a:lstStyle/>
          <a:p>
            <a:fld id="{FE024F78-56A6-7740-B68D-8D4D026EDF3F}" type="slidenum">
              <a:rPr lang="en-US" smtClean="0"/>
              <a:pPr/>
              <a:t>10</a:t>
            </a:fld>
            <a:endParaRPr lang="en-US" dirty="0"/>
          </a:p>
        </p:txBody>
      </p:sp>
    </p:spTree>
    <p:extLst>
      <p:ext uri="{BB962C8B-B14F-4D97-AF65-F5344CB8AC3E}">
        <p14:creationId xmlns:p14="http://schemas.microsoft.com/office/powerpoint/2010/main" val="2728059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5709-A91C-057A-055A-ED8581930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C8B15-CB9F-196A-51A2-7F9DB17F77E3}"/>
              </a:ext>
            </a:extLst>
          </p:cNvPr>
          <p:cNvSpPr>
            <a:spLocks noGrp="1"/>
          </p:cNvSpPr>
          <p:nvPr>
            <p:ph type="title"/>
          </p:nvPr>
        </p:nvSpPr>
        <p:spPr>
          <a:xfrm>
            <a:off x="741680" y="430482"/>
            <a:ext cx="10500989" cy="994090"/>
          </a:xfrm>
        </p:spPr>
        <p:txBody>
          <a:bodyPr/>
          <a:lstStyle/>
          <a:p>
            <a:r>
              <a:rPr lang="en-US">
                <a:solidFill>
                  <a:schemeClr val="bg2"/>
                </a:solidFill>
              </a:rPr>
              <a:t>NON Functional requirements</a:t>
            </a:r>
            <a:endParaRPr lang="en-US" dirty="0">
              <a:solidFill>
                <a:schemeClr val="bg2"/>
              </a:solidFill>
            </a:endParaRPr>
          </a:p>
        </p:txBody>
      </p:sp>
      <p:sp>
        <p:nvSpPr>
          <p:cNvPr id="4" name="Content Placeholder 3">
            <a:extLst>
              <a:ext uri="{FF2B5EF4-FFF2-40B4-BE49-F238E27FC236}">
                <a16:creationId xmlns:a16="http://schemas.microsoft.com/office/drawing/2014/main" id="{05F00F02-BFE9-5D07-56DC-FD4DE7EF7333}"/>
              </a:ext>
            </a:extLst>
          </p:cNvPr>
          <p:cNvSpPr>
            <a:spLocks noGrp="1"/>
          </p:cNvSpPr>
          <p:nvPr>
            <p:ph sz="quarter" idx="36"/>
          </p:nvPr>
        </p:nvSpPr>
        <p:spPr>
          <a:xfrm>
            <a:off x="891381" y="2084539"/>
            <a:ext cx="6315069" cy="4509565"/>
          </a:xfrm>
        </p:spPr>
        <p:txBody>
          <a:bodyPr vert="horz" lIns="91440" tIns="45720" rIns="91440" bIns="45720" rtlCol="0" anchor="t">
            <a:noAutofit/>
          </a:bodyPr>
          <a:lstStyle/>
          <a:p>
            <a:r>
              <a:rPr lang="en-US" b="1"/>
              <a:t>2.4 Reliability</a:t>
            </a:r>
            <a:endParaRPr lang="en-US"/>
          </a:p>
          <a:p>
            <a:pPr marL="285750" indent="-285750">
              <a:buFont typeface="Arial"/>
              <a:buChar char="•"/>
            </a:pPr>
            <a:r>
              <a:rPr lang="en-US" sz="1200">
                <a:ea typeface="+mn-lt"/>
                <a:cs typeface="+mn-lt"/>
              </a:rPr>
              <a:t>NFR8: The system must provide redundancy for backend services (at least 99.5% uptime).</a:t>
            </a:r>
            <a:endParaRPr lang="en-US"/>
          </a:p>
          <a:p>
            <a:pPr marL="285750" indent="-285750">
              <a:buFont typeface="Arial"/>
              <a:buChar char="•"/>
            </a:pPr>
            <a:r>
              <a:rPr lang="en-US" sz="1200">
                <a:ea typeface="+mn-lt"/>
                <a:cs typeface="+mn-lt"/>
              </a:rPr>
              <a:t>NFR9: Database must support automated daily backups.</a:t>
            </a:r>
            <a:endParaRPr lang="en-US"/>
          </a:p>
          <a:p>
            <a:r>
              <a:rPr lang="en-US" b="1"/>
              <a:t>2.5 Usability</a:t>
            </a:r>
            <a:endParaRPr lang="en-US"/>
          </a:p>
          <a:p>
            <a:pPr marL="285750" indent="-285750">
              <a:buFont typeface="Arial"/>
              <a:buChar char="•"/>
            </a:pPr>
            <a:r>
              <a:rPr lang="en-US" sz="1200">
                <a:ea typeface="+mn-lt"/>
                <a:cs typeface="+mn-lt"/>
              </a:rPr>
              <a:t>NFR10: The web dApp must have a clean, intuitive UI with mobile responsiveness.</a:t>
            </a:r>
            <a:endParaRPr lang="en-US"/>
          </a:p>
          <a:p>
            <a:pPr marL="285750" indent="-285750">
              <a:buFont typeface="Arial"/>
              <a:buChar char="•"/>
            </a:pPr>
            <a:r>
              <a:rPr lang="en-US" sz="1200">
                <a:ea typeface="+mn-lt"/>
                <a:cs typeface="+mn-lt"/>
              </a:rPr>
              <a:t>NFR11: Agent actions must be transparent and explainable to users via logs and dashboards.</a:t>
            </a:r>
            <a:endParaRPr lang="en-US"/>
          </a:p>
          <a:p>
            <a:r>
              <a:rPr lang="en-US" b="1"/>
              <a:t>2.6 Compliance</a:t>
            </a:r>
            <a:endParaRPr lang="en-US"/>
          </a:p>
          <a:p>
            <a:pPr marL="285750" indent="-285750">
              <a:buFont typeface="Arial"/>
              <a:buChar char="•"/>
            </a:pPr>
            <a:r>
              <a:rPr lang="en-US" sz="1200">
                <a:ea typeface="+mn-lt"/>
                <a:cs typeface="+mn-lt"/>
              </a:rPr>
              <a:t>NFR12: The system must comply with DeFi best practices for transparency (open-source contracts, auditable events).</a:t>
            </a:r>
            <a:endParaRPr lang="en-US"/>
          </a:p>
          <a:p>
            <a:pPr marL="285750" indent="-285750">
              <a:buFont typeface="Arial"/>
              <a:buChar char="•"/>
            </a:pPr>
            <a:r>
              <a:rPr lang="en-US" sz="1200">
                <a:ea typeface="+mn-lt"/>
                <a:cs typeface="+mn-lt"/>
              </a:rPr>
              <a:t>NFR13: User data stored off-chain must follow basic GDPR-style privacy handling (consent-based storage, ability to delete).</a:t>
            </a:r>
            <a:endParaRPr lang="en-US"/>
          </a:p>
          <a:p>
            <a:endParaRPr lang="en-US" sz="1200" b="1" dirty="0"/>
          </a:p>
          <a:p>
            <a:endParaRPr lang="en-US" sz="1200" dirty="0"/>
          </a:p>
        </p:txBody>
      </p:sp>
      <p:sp>
        <p:nvSpPr>
          <p:cNvPr id="5" name="Slide Number Placeholder 4">
            <a:extLst>
              <a:ext uri="{FF2B5EF4-FFF2-40B4-BE49-F238E27FC236}">
                <a16:creationId xmlns:a16="http://schemas.microsoft.com/office/drawing/2014/main" id="{85628086-9381-894A-EB11-E77E6DA785B4}"/>
              </a:ext>
            </a:extLst>
          </p:cNvPr>
          <p:cNvSpPr>
            <a:spLocks noGrp="1"/>
          </p:cNvSpPr>
          <p:nvPr>
            <p:ph type="sldNum" sz="quarter" idx="12"/>
          </p:nvPr>
        </p:nvSpPr>
        <p:spPr/>
        <p:txBody>
          <a:bodyPr/>
          <a:lstStyle/>
          <a:p>
            <a:fld id="{FE024F78-56A6-7740-B68D-8D4D026EDF3F}" type="slidenum">
              <a:rPr lang="en-US" smtClean="0"/>
              <a:pPr/>
              <a:t>11</a:t>
            </a:fld>
            <a:endParaRPr lang="en-US" dirty="0"/>
          </a:p>
        </p:txBody>
      </p:sp>
    </p:spTree>
    <p:extLst>
      <p:ext uri="{BB962C8B-B14F-4D97-AF65-F5344CB8AC3E}">
        <p14:creationId xmlns:p14="http://schemas.microsoft.com/office/powerpoint/2010/main" val="2140024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EB8B-0AB9-7554-AEEA-E8D744959E9A}"/>
              </a:ext>
            </a:extLst>
          </p:cNvPr>
          <p:cNvSpPr>
            <a:spLocks noGrp="1"/>
          </p:cNvSpPr>
          <p:nvPr>
            <p:ph type="title"/>
          </p:nvPr>
        </p:nvSpPr>
        <p:spPr>
          <a:xfrm>
            <a:off x="6889627" y="173736"/>
            <a:ext cx="4352662" cy="1727455"/>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05B64636-376E-96D4-B550-D764B2C6A6A7}"/>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FB2F5F9A-B16D-CA49-7F40-A0142E41DC56}"/>
              </a:ext>
            </a:extLst>
          </p:cNvPr>
          <p:cNvSpPr>
            <a:spLocks noGrp="1"/>
          </p:cNvSpPr>
          <p:nvPr>
            <p:ph sz="quarter" idx="36"/>
          </p:nvPr>
        </p:nvSpPr>
        <p:spPr>
          <a:xfrm>
            <a:off x="6889627" y="2854246"/>
            <a:ext cx="4788279" cy="3557981"/>
          </a:xfrm>
        </p:spPr>
        <p:txBody>
          <a:bodyPr vert="horz" lIns="91440" tIns="45720" rIns="91440" bIns="45720" rtlCol="0" anchor="t">
            <a:normAutofit fontScale="77500" lnSpcReduction="20000"/>
          </a:bodyPr>
          <a:lstStyle/>
          <a:p>
            <a:r>
              <a:rPr lang="en-US" b="1" dirty="0"/>
              <a:t>1. Frontend </a:t>
            </a:r>
            <a:r>
              <a:rPr lang="en-US" b="1" dirty="0" err="1"/>
              <a:t>dApp</a:t>
            </a:r>
            <a:endParaRPr lang="en-US" dirty="0" err="1"/>
          </a:p>
          <a:p>
            <a:pPr marL="285750" indent="-285750">
              <a:buFont typeface="Arial"/>
              <a:buChar char="•"/>
            </a:pPr>
            <a:r>
              <a:rPr lang="en-US" dirty="0">
                <a:ea typeface="+mn-lt"/>
                <a:cs typeface="+mn-lt"/>
              </a:rPr>
              <a:t>Built with </a:t>
            </a:r>
            <a:r>
              <a:rPr lang="en-US" b="1" dirty="0" err="1">
                <a:ea typeface="+mn-lt"/>
                <a:cs typeface="+mn-lt"/>
              </a:rPr>
              <a:t>Reactjs</a:t>
            </a:r>
            <a:r>
              <a:rPr lang="en-US" dirty="0">
                <a:ea typeface="+mn-lt"/>
                <a:cs typeface="+mn-lt"/>
              </a:rPr>
              <a:t> and connect smart contract  through </a:t>
            </a:r>
            <a:r>
              <a:rPr lang="en-US" b="1" dirty="0">
                <a:ea typeface="+mn-lt"/>
                <a:cs typeface="+mn-lt"/>
              </a:rPr>
              <a:t>Web3.js </a:t>
            </a:r>
            <a:r>
              <a:rPr lang="en-US" dirty="0">
                <a:ea typeface="+mn-lt"/>
                <a:cs typeface="+mn-lt"/>
              </a:rPr>
              <a:t>.</a:t>
            </a:r>
            <a:endParaRPr lang="en-US" dirty="0"/>
          </a:p>
          <a:p>
            <a:pPr marL="285750" indent="-285750">
              <a:buFont typeface="Arial"/>
              <a:buChar char="•"/>
            </a:pPr>
            <a:r>
              <a:rPr lang="en-US" dirty="0">
                <a:ea typeface="+mn-lt"/>
                <a:cs typeface="+mn-lt"/>
              </a:rPr>
              <a:t>Provides interfaces for:</a:t>
            </a:r>
            <a:endParaRPr lang="en-US" dirty="0"/>
          </a:p>
          <a:p>
            <a:pPr marL="854710" lvl="1">
              <a:buClr>
                <a:srgbClr val="09963B"/>
              </a:buClr>
              <a:buFont typeface="Arial"/>
              <a:buChar char="•"/>
            </a:pPr>
            <a:r>
              <a:rPr lang="en-US" dirty="0">
                <a:solidFill>
                  <a:schemeClr val="bg2"/>
                </a:solidFill>
                <a:ea typeface="+mn-lt"/>
                <a:cs typeface="+mn-lt"/>
              </a:rPr>
              <a:t>Swapping tokens.</a:t>
            </a:r>
            <a:endParaRPr lang="en-US" dirty="0">
              <a:solidFill>
                <a:schemeClr val="bg2"/>
              </a:solidFill>
            </a:endParaRPr>
          </a:p>
          <a:p>
            <a:pPr marL="854710" lvl="1">
              <a:buClr>
                <a:srgbClr val="09963B"/>
              </a:buClr>
              <a:buFont typeface="Arial"/>
              <a:buChar char="•"/>
            </a:pPr>
            <a:r>
              <a:rPr lang="en-US" dirty="0">
                <a:solidFill>
                  <a:schemeClr val="bg2"/>
                </a:solidFill>
                <a:ea typeface="+mn-lt"/>
                <a:cs typeface="+mn-lt"/>
              </a:rPr>
              <a:t>Adding/removing liquidity.</a:t>
            </a:r>
            <a:endParaRPr lang="en-US" dirty="0">
              <a:solidFill>
                <a:schemeClr val="bg2"/>
              </a:solidFill>
            </a:endParaRPr>
          </a:p>
          <a:p>
            <a:pPr marL="854710" lvl="1">
              <a:buClr>
                <a:srgbClr val="09963B"/>
              </a:buClr>
              <a:buFont typeface="Arial"/>
              <a:buChar char="•"/>
            </a:pPr>
            <a:r>
              <a:rPr lang="en-US" dirty="0">
                <a:solidFill>
                  <a:schemeClr val="bg2"/>
                </a:solidFill>
                <a:ea typeface="+mn-lt"/>
                <a:cs typeface="+mn-lt"/>
              </a:rPr>
              <a:t>Viewing LP token balances.</a:t>
            </a:r>
            <a:endParaRPr lang="en-US" dirty="0">
              <a:solidFill>
                <a:schemeClr val="bg2"/>
              </a:solidFill>
            </a:endParaRPr>
          </a:p>
          <a:p>
            <a:pPr marL="854710" lvl="1">
              <a:buClr>
                <a:srgbClr val="09963B"/>
              </a:buClr>
              <a:buFont typeface="Arial"/>
              <a:buChar char="•"/>
            </a:pPr>
            <a:r>
              <a:rPr lang="en-US" dirty="0">
                <a:solidFill>
                  <a:schemeClr val="bg2"/>
                </a:solidFill>
                <a:ea typeface="+mn-lt"/>
                <a:cs typeface="+mn-lt"/>
              </a:rPr>
              <a:t>Configuring and monitoring agents.</a:t>
            </a:r>
            <a:endParaRPr lang="en-US" dirty="0">
              <a:solidFill>
                <a:schemeClr val="bg2"/>
              </a:solidFill>
            </a:endParaRPr>
          </a:p>
          <a:p>
            <a:pPr marL="285750" indent="-285750">
              <a:buClr>
                <a:srgbClr val="09963B"/>
              </a:buClr>
              <a:buFont typeface="Arial"/>
              <a:buChar char="•"/>
            </a:pPr>
            <a:r>
              <a:rPr lang="en-US" dirty="0">
                <a:ea typeface="+mn-lt"/>
                <a:cs typeface="+mn-lt"/>
              </a:rPr>
              <a:t>Connects with wallets (MetaMask, </a:t>
            </a:r>
            <a:r>
              <a:rPr lang="en-US" dirty="0" err="1">
                <a:ea typeface="+mn-lt"/>
                <a:cs typeface="+mn-lt"/>
              </a:rPr>
              <a:t>WalletConnect</a:t>
            </a:r>
            <a:r>
              <a:rPr lang="en-US" dirty="0">
                <a:ea typeface="+mn-lt"/>
                <a:cs typeface="+mn-lt"/>
              </a:rPr>
              <a:t>).</a:t>
            </a:r>
            <a:endParaRPr lang="en-US" dirty="0"/>
          </a:p>
          <a:p>
            <a:endParaRPr lang="en-US" dirty="0"/>
          </a:p>
        </p:txBody>
      </p:sp>
      <p:sp>
        <p:nvSpPr>
          <p:cNvPr id="4" name="Slide Number Placeholder 3">
            <a:extLst>
              <a:ext uri="{FF2B5EF4-FFF2-40B4-BE49-F238E27FC236}">
                <a16:creationId xmlns:a16="http://schemas.microsoft.com/office/drawing/2014/main" id="{921DB868-BEE2-49F7-9AC5-A3B143880250}"/>
              </a:ext>
            </a:extLst>
          </p:cNvPr>
          <p:cNvSpPr>
            <a:spLocks noGrp="1"/>
          </p:cNvSpPr>
          <p:nvPr>
            <p:ph type="sldNum" sz="quarter" idx="12"/>
          </p:nvPr>
        </p:nvSpPr>
        <p:spPr/>
        <p:txBody>
          <a:bodyPr/>
          <a:lstStyle/>
          <a:p>
            <a:fld id="{FE024F78-56A6-7740-B68D-8D4D026EDF3F}" type="slidenum">
              <a:rPr lang="en-US" smtClean="0"/>
              <a:pPr/>
              <a:t>12</a:t>
            </a:fld>
            <a:endParaRPr lang="en-US" dirty="0"/>
          </a:p>
        </p:txBody>
      </p:sp>
    </p:spTree>
    <p:extLst>
      <p:ext uri="{BB962C8B-B14F-4D97-AF65-F5344CB8AC3E}">
        <p14:creationId xmlns:p14="http://schemas.microsoft.com/office/powerpoint/2010/main" val="910315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12453-4D9D-6444-C47A-35876ACF4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8515B-89F5-CB41-FC10-E82907AE5882}"/>
              </a:ext>
            </a:extLst>
          </p:cNvPr>
          <p:cNvSpPr>
            <a:spLocks noGrp="1"/>
          </p:cNvSpPr>
          <p:nvPr>
            <p:ph type="title"/>
          </p:nvPr>
        </p:nvSpPr>
        <p:spPr>
          <a:xfrm>
            <a:off x="6889627" y="173736"/>
            <a:ext cx="4352662" cy="1727455"/>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401BA1BD-6066-6E0B-F46E-D828981A0E13}"/>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ABCA0F4F-2B19-1C45-436C-4505E5B33586}"/>
              </a:ext>
            </a:extLst>
          </p:cNvPr>
          <p:cNvSpPr>
            <a:spLocks noGrp="1"/>
          </p:cNvSpPr>
          <p:nvPr>
            <p:ph sz="quarter" idx="36"/>
          </p:nvPr>
        </p:nvSpPr>
        <p:spPr>
          <a:xfrm>
            <a:off x="6889627" y="2854246"/>
            <a:ext cx="4788279" cy="3557981"/>
          </a:xfrm>
        </p:spPr>
        <p:txBody>
          <a:bodyPr vert="horz" lIns="91440" tIns="45720" rIns="91440" bIns="45720" rtlCol="0" anchor="t">
            <a:normAutofit fontScale="85000" lnSpcReduction="20000"/>
          </a:bodyPr>
          <a:lstStyle/>
          <a:p>
            <a:r>
              <a:rPr lang="en-US" b="1"/>
              <a:t>6. Smart Contracts</a:t>
            </a:r>
            <a:endParaRPr lang="en-US"/>
          </a:p>
          <a:p>
            <a:r>
              <a:rPr lang="en-US" b="1">
                <a:ea typeface="+mn-lt"/>
                <a:cs typeface="+mn-lt"/>
              </a:rPr>
              <a:t>Language:   Solidity</a:t>
            </a:r>
            <a:endParaRPr lang="en-US" b="1" dirty="0">
              <a:ea typeface="+mn-lt"/>
              <a:cs typeface="+mn-lt"/>
            </a:endParaRPr>
          </a:p>
          <a:p>
            <a:pPr marL="285750" indent="-285750">
              <a:buFont typeface="Arial"/>
              <a:buChar char="•"/>
            </a:pPr>
            <a:r>
              <a:rPr lang="en-US" b="1">
                <a:ea typeface="+mn-lt"/>
                <a:cs typeface="+mn-lt"/>
              </a:rPr>
              <a:t>Factory Contract</a:t>
            </a:r>
            <a:r>
              <a:rPr lang="en-US">
                <a:ea typeface="+mn-lt"/>
                <a:cs typeface="+mn-lt"/>
              </a:rPr>
              <a:t> → creates Pair pools for token pairs.</a:t>
            </a:r>
            <a:endParaRPr lang="en-US"/>
          </a:p>
          <a:p>
            <a:pPr marL="285750" indent="-285750">
              <a:buFont typeface="Arial"/>
              <a:buChar char="•"/>
            </a:pPr>
            <a:r>
              <a:rPr lang="en-US" b="1">
                <a:ea typeface="+mn-lt"/>
                <a:cs typeface="+mn-lt"/>
              </a:rPr>
              <a:t>Pair Contract</a:t>
            </a:r>
            <a:r>
              <a:rPr lang="en-US">
                <a:ea typeface="+mn-lt"/>
                <a:cs typeface="+mn-lt"/>
              </a:rPr>
              <a:t> → manages reserves &amp; executes swaps.</a:t>
            </a:r>
            <a:endParaRPr lang="en-US"/>
          </a:p>
          <a:p>
            <a:pPr marL="285750" indent="-285750">
              <a:buFont typeface="Arial"/>
              <a:buChar char="•"/>
            </a:pPr>
            <a:r>
              <a:rPr lang="en-US" b="1">
                <a:ea typeface="+mn-lt"/>
                <a:cs typeface="+mn-lt"/>
              </a:rPr>
              <a:t>Router Contract</a:t>
            </a:r>
            <a:r>
              <a:rPr lang="en-US">
                <a:ea typeface="+mn-lt"/>
                <a:cs typeface="+mn-lt"/>
              </a:rPr>
              <a:t> → simplifies multi-hop swaps &amp; liquidity functions.</a:t>
            </a:r>
            <a:endParaRPr lang="en-US"/>
          </a:p>
          <a:p>
            <a:pPr marL="285750" indent="-285750">
              <a:buFont typeface="Arial"/>
              <a:buChar char="•"/>
            </a:pPr>
            <a:r>
              <a:rPr lang="en-US" b="1">
                <a:ea typeface="+mn-lt"/>
                <a:cs typeface="+mn-lt"/>
              </a:rPr>
              <a:t>LP Token Contract</a:t>
            </a:r>
            <a:r>
              <a:rPr lang="en-US">
                <a:ea typeface="+mn-lt"/>
                <a:cs typeface="+mn-lt"/>
              </a:rPr>
              <a:t> → ERC20 tokens representing liquidity provider shares.</a:t>
            </a:r>
            <a:endParaRPr lang="en-US"/>
          </a:p>
          <a:p>
            <a:endParaRPr lang="en-US" b="1" dirty="0"/>
          </a:p>
          <a:p>
            <a:endParaRPr lang="en-US" dirty="0"/>
          </a:p>
        </p:txBody>
      </p:sp>
      <p:sp>
        <p:nvSpPr>
          <p:cNvPr id="4" name="Slide Number Placeholder 3">
            <a:extLst>
              <a:ext uri="{FF2B5EF4-FFF2-40B4-BE49-F238E27FC236}">
                <a16:creationId xmlns:a16="http://schemas.microsoft.com/office/drawing/2014/main" id="{172E7FAF-5CC5-4CF0-915A-CB1DAC2DCA77}"/>
              </a:ext>
            </a:extLst>
          </p:cNvPr>
          <p:cNvSpPr>
            <a:spLocks noGrp="1"/>
          </p:cNvSpPr>
          <p:nvPr>
            <p:ph type="sldNum" sz="quarter" idx="12"/>
          </p:nvPr>
        </p:nvSpPr>
        <p:spPr/>
        <p:txBody>
          <a:bodyPr/>
          <a:lstStyle/>
          <a:p>
            <a:fld id="{FE024F78-56A6-7740-B68D-8D4D026EDF3F}" type="slidenum">
              <a:rPr lang="en-US" smtClean="0"/>
              <a:pPr/>
              <a:t>13</a:t>
            </a:fld>
            <a:endParaRPr lang="en-US" dirty="0"/>
          </a:p>
        </p:txBody>
      </p:sp>
    </p:spTree>
    <p:extLst>
      <p:ext uri="{BB962C8B-B14F-4D97-AF65-F5344CB8AC3E}">
        <p14:creationId xmlns:p14="http://schemas.microsoft.com/office/powerpoint/2010/main" val="671983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EA3F-98AF-B552-21F9-D99143287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492F3-879E-F63C-05E3-2BE440FB5814}"/>
              </a:ext>
            </a:extLst>
          </p:cNvPr>
          <p:cNvSpPr>
            <a:spLocks noGrp="1"/>
          </p:cNvSpPr>
          <p:nvPr>
            <p:ph type="title"/>
          </p:nvPr>
        </p:nvSpPr>
        <p:spPr>
          <a:xfrm>
            <a:off x="6889627" y="173736"/>
            <a:ext cx="4352662" cy="1727455"/>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9994261C-9168-56E8-A3ED-7F28BEA376BF}"/>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6D30C0F1-9D41-AB01-A8D4-DA7BCB838CE6}"/>
              </a:ext>
            </a:extLst>
          </p:cNvPr>
          <p:cNvSpPr>
            <a:spLocks noGrp="1"/>
          </p:cNvSpPr>
          <p:nvPr>
            <p:ph sz="quarter" idx="36"/>
          </p:nvPr>
        </p:nvSpPr>
        <p:spPr>
          <a:xfrm>
            <a:off x="6889627" y="2854246"/>
            <a:ext cx="4788279" cy="3808012"/>
          </a:xfrm>
        </p:spPr>
        <p:txBody>
          <a:bodyPr vert="horz" lIns="91440" tIns="45720" rIns="91440" bIns="45720" rtlCol="0" anchor="t">
            <a:normAutofit fontScale="77500" lnSpcReduction="20000"/>
          </a:bodyPr>
          <a:lstStyle/>
          <a:p>
            <a:r>
              <a:rPr lang="en-US" b="1"/>
              <a:t>5. Autonomous Agents</a:t>
            </a:r>
            <a:endParaRPr lang="en-US"/>
          </a:p>
          <a:p>
            <a:pPr marL="285750" indent="-285750">
              <a:buFont typeface="Arial"/>
              <a:buChar char="•"/>
            </a:pPr>
            <a:r>
              <a:rPr lang="en-US">
                <a:ea typeface="+mn-lt"/>
                <a:cs typeface="+mn-lt"/>
              </a:rPr>
              <a:t>Run off-chain but connected via MCP server.</a:t>
            </a:r>
            <a:endParaRPr lang="en-US"/>
          </a:p>
          <a:p>
            <a:pPr marL="285750" indent="-285750">
              <a:buFont typeface="Arial"/>
              <a:buChar char="•"/>
            </a:pPr>
            <a:r>
              <a:rPr lang="en-US">
                <a:ea typeface="+mn-lt"/>
                <a:cs typeface="+mn-lt"/>
              </a:rPr>
              <a:t>Types of agents:</a:t>
            </a:r>
            <a:endParaRPr lang="en-US"/>
          </a:p>
          <a:p>
            <a:pPr marL="854710" lvl="1">
              <a:buClr>
                <a:srgbClr val="09963B"/>
              </a:buClr>
              <a:buFont typeface="Arial"/>
              <a:buChar char="•"/>
            </a:pPr>
            <a:r>
              <a:rPr lang="en-US" b="1">
                <a:solidFill>
                  <a:schemeClr val="bg2"/>
                </a:solidFill>
                <a:ea typeface="+mn-lt"/>
                <a:cs typeface="+mn-lt"/>
              </a:rPr>
              <a:t>Pool Monitor Agent</a:t>
            </a:r>
            <a:r>
              <a:rPr lang="en-US">
                <a:solidFill>
                  <a:schemeClr val="bg2"/>
                </a:solidFill>
                <a:ea typeface="+mn-lt"/>
                <a:cs typeface="+mn-lt"/>
              </a:rPr>
              <a:t> → watches liquidity &amp; reserves.</a:t>
            </a:r>
            <a:endParaRPr lang="en-US">
              <a:solidFill>
                <a:schemeClr val="bg2"/>
              </a:solidFill>
            </a:endParaRPr>
          </a:p>
          <a:p>
            <a:pPr marL="854710" lvl="1">
              <a:buClr>
                <a:srgbClr val="09963B"/>
              </a:buClr>
              <a:buFont typeface="Arial"/>
              <a:buChar char="•"/>
            </a:pPr>
            <a:r>
              <a:rPr lang="en-US" b="1">
                <a:solidFill>
                  <a:schemeClr val="bg2"/>
                </a:solidFill>
                <a:ea typeface="+mn-lt"/>
                <a:cs typeface="+mn-lt"/>
              </a:rPr>
              <a:t>Arbitrage Agent</a:t>
            </a:r>
            <a:r>
              <a:rPr lang="en-US">
                <a:solidFill>
                  <a:schemeClr val="bg2"/>
                </a:solidFill>
                <a:ea typeface="+mn-lt"/>
                <a:cs typeface="+mn-lt"/>
              </a:rPr>
              <a:t> → executes profitable swaps across pools.</a:t>
            </a:r>
            <a:endParaRPr lang="en-US">
              <a:solidFill>
                <a:schemeClr val="bg2"/>
              </a:solidFill>
            </a:endParaRPr>
          </a:p>
          <a:p>
            <a:pPr marL="854710" lvl="1">
              <a:buClr>
                <a:srgbClr val="09963B"/>
              </a:buClr>
              <a:buFont typeface="Arial"/>
              <a:buChar char="•"/>
            </a:pPr>
            <a:r>
              <a:rPr lang="en-US" b="1">
                <a:solidFill>
                  <a:schemeClr val="bg2"/>
                </a:solidFill>
                <a:ea typeface="+mn-lt"/>
                <a:cs typeface="+mn-lt"/>
              </a:rPr>
              <a:t>Liquidity Manager</a:t>
            </a:r>
            <a:r>
              <a:rPr lang="en-US">
                <a:solidFill>
                  <a:schemeClr val="bg2"/>
                </a:solidFill>
                <a:ea typeface="+mn-lt"/>
                <a:cs typeface="+mn-lt"/>
              </a:rPr>
              <a:t> → adds/removes liquidity for optimal returns.</a:t>
            </a:r>
            <a:endParaRPr lang="en-US">
              <a:solidFill>
                <a:schemeClr val="bg2"/>
              </a:solidFill>
            </a:endParaRPr>
          </a:p>
          <a:p>
            <a:pPr marL="854710" lvl="1">
              <a:buClr>
                <a:srgbClr val="09963B"/>
              </a:buClr>
              <a:buFont typeface="Arial"/>
              <a:buChar char="•"/>
            </a:pPr>
            <a:r>
              <a:rPr lang="en-US" b="1">
                <a:solidFill>
                  <a:schemeClr val="bg2"/>
                </a:solidFill>
                <a:ea typeface="+mn-lt"/>
                <a:cs typeface="+mn-lt"/>
              </a:rPr>
              <a:t>Risk Agent</a:t>
            </a:r>
            <a:r>
              <a:rPr lang="en-US">
                <a:solidFill>
                  <a:schemeClr val="bg2"/>
                </a:solidFill>
                <a:ea typeface="+mn-lt"/>
                <a:cs typeface="+mn-lt"/>
              </a:rPr>
              <a:t> → reduces impermanent loss by rebalancing.</a:t>
            </a:r>
            <a:endParaRPr lang="en-US">
              <a:solidFill>
                <a:schemeClr val="bg2"/>
              </a:solidFill>
            </a:endParaRPr>
          </a:p>
          <a:p>
            <a:endParaRPr lang="en-US" b="1" dirty="0">
              <a:solidFill>
                <a:schemeClr val="bg2"/>
              </a:solidFill>
            </a:endParaRPr>
          </a:p>
          <a:p>
            <a:endParaRPr lang="en-US" dirty="0"/>
          </a:p>
        </p:txBody>
      </p:sp>
      <p:sp>
        <p:nvSpPr>
          <p:cNvPr id="4" name="Slide Number Placeholder 3">
            <a:extLst>
              <a:ext uri="{FF2B5EF4-FFF2-40B4-BE49-F238E27FC236}">
                <a16:creationId xmlns:a16="http://schemas.microsoft.com/office/drawing/2014/main" id="{01464006-34C4-2E61-44DC-D743B48C7261}"/>
              </a:ext>
            </a:extLst>
          </p:cNvPr>
          <p:cNvSpPr>
            <a:spLocks noGrp="1"/>
          </p:cNvSpPr>
          <p:nvPr>
            <p:ph type="sldNum" sz="quarter" idx="12"/>
          </p:nvPr>
        </p:nvSpPr>
        <p:spPr/>
        <p:txBody>
          <a:bodyPr/>
          <a:lstStyle/>
          <a:p>
            <a:fld id="{FE024F78-56A6-7740-B68D-8D4D026EDF3F}" type="slidenum">
              <a:rPr lang="en-US" smtClean="0"/>
              <a:pPr/>
              <a:t>14</a:t>
            </a:fld>
            <a:endParaRPr lang="en-US" dirty="0"/>
          </a:p>
        </p:txBody>
      </p:sp>
    </p:spTree>
    <p:extLst>
      <p:ext uri="{BB962C8B-B14F-4D97-AF65-F5344CB8AC3E}">
        <p14:creationId xmlns:p14="http://schemas.microsoft.com/office/powerpoint/2010/main" val="758537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25CC3-47A9-F3B6-8F0B-68ACB4294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75B0F-793B-3ADD-EA9C-01B470CF108B}"/>
              </a:ext>
            </a:extLst>
          </p:cNvPr>
          <p:cNvSpPr>
            <a:spLocks noGrp="1"/>
          </p:cNvSpPr>
          <p:nvPr>
            <p:ph type="title"/>
          </p:nvPr>
        </p:nvSpPr>
        <p:spPr>
          <a:xfrm>
            <a:off x="6889627" y="173736"/>
            <a:ext cx="4352662" cy="1572673"/>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6A43C7D2-3D8D-2983-9F34-77A1ADB4374B}"/>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78A52B37-45E7-C4E2-99FF-4658A0BD3652}"/>
              </a:ext>
            </a:extLst>
          </p:cNvPr>
          <p:cNvSpPr>
            <a:spLocks noGrp="1"/>
          </p:cNvSpPr>
          <p:nvPr>
            <p:ph sz="quarter" idx="36"/>
          </p:nvPr>
        </p:nvSpPr>
        <p:spPr>
          <a:xfrm>
            <a:off x="6889627" y="2901871"/>
            <a:ext cx="4728747" cy="3700857"/>
          </a:xfrm>
        </p:spPr>
        <p:txBody>
          <a:bodyPr vert="horz" lIns="91440" tIns="45720" rIns="91440" bIns="45720" rtlCol="0" anchor="t">
            <a:normAutofit fontScale="92500" lnSpcReduction="10000"/>
          </a:bodyPr>
          <a:lstStyle/>
          <a:p>
            <a:r>
              <a:rPr lang="en-US" b="1"/>
              <a:t>4. MCP Server</a:t>
            </a:r>
            <a:endParaRPr lang="en-US"/>
          </a:p>
          <a:p>
            <a:pPr marL="285750" indent="-285750">
              <a:buFont typeface="Arial"/>
              <a:buChar char="•"/>
            </a:pPr>
            <a:r>
              <a:rPr lang="en-US">
                <a:ea typeface="+mn-lt"/>
                <a:cs typeface="+mn-lt"/>
              </a:rPr>
              <a:t>Acts as the </a:t>
            </a:r>
            <a:r>
              <a:rPr lang="en-US" b="1">
                <a:ea typeface="+mn-lt"/>
                <a:cs typeface="+mn-lt"/>
              </a:rPr>
              <a:t>trust layer</a:t>
            </a:r>
            <a:r>
              <a:rPr lang="en-US">
                <a:ea typeface="+mn-lt"/>
                <a:cs typeface="+mn-lt"/>
              </a:rPr>
              <a:t> between agents and smart contracts.</a:t>
            </a:r>
            <a:endParaRPr lang="en-US"/>
          </a:p>
          <a:p>
            <a:pPr marL="285750" indent="-285750">
              <a:buFont typeface="Arial"/>
              <a:buChar char="•"/>
            </a:pPr>
            <a:r>
              <a:rPr lang="en-US">
                <a:ea typeface="+mn-lt"/>
                <a:cs typeface="+mn-lt"/>
              </a:rPr>
              <a:t>Validates all </a:t>
            </a:r>
            <a:r>
              <a:rPr lang="en-US" b="1">
                <a:ea typeface="+mn-lt"/>
                <a:cs typeface="+mn-lt"/>
              </a:rPr>
              <a:t>EIP-712 signed intents</a:t>
            </a:r>
            <a:r>
              <a:rPr lang="en-US">
                <a:ea typeface="+mn-lt"/>
                <a:cs typeface="+mn-lt"/>
              </a:rPr>
              <a:t> before execution.</a:t>
            </a:r>
            <a:endParaRPr lang="en-US"/>
          </a:p>
          <a:p>
            <a:pPr marL="285750" indent="-285750">
              <a:buFont typeface="Arial"/>
              <a:buChar char="•"/>
            </a:pPr>
            <a:r>
              <a:rPr lang="en-US">
                <a:ea typeface="+mn-lt"/>
                <a:cs typeface="+mn-lt"/>
              </a:rPr>
              <a:t>Enforces </a:t>
            </a:r>
            <a:r>
              <a:rPr lang="en-US" b="1">
                <a:ea typeface="+mn-lt"/>
                <a:cs typeface="+mn-lt"/>
              </a:rPr>
              <a:t>Agent Policies</a:t>
            </a:r>
            <a:r>
              <a:rPr lang="en-US">
                <a:ea typeface="+mn-lt"/>
                <a:cs typeface="+mn-lt"/>
              </a:rPr>
              <a:t> (e.g., no trade above X slippage).</a:t>
            </a:r>
            <a:endParaRPr lang="en-US"/>
          </a:p>
          <a:p>
            <a:pPr marL="285750" indent="-285750">
              <a:buFont typeface="Arial"/>
              <a:buChar char="•"/>
            </a:pPr>
            <a:r>
              <a:rPr lang="en-US">
                <a:ea typeface="+mn-lt"/>
                <a:cs typeface="+mn-lt"/>
              </a:rPr>
              <a:t>Ensures agents cannot act outside user permissions.</a:t>
            </a:r>
            <a:endParaRPr lang="en-US"/>
          </a:p>
          <a:p>
            <a:endParaRPr lang="en-US" b="1" dirty="0"/>
          </a:p>
          <a:p>
            <a:endParaRPr lang="en-US" dirty="0"/>
          </a:p>
        </p:txBody>
      </p:sp>
      <p:sp>
        <p:nvSpPr>
          <p:cNvPr id="4" name="Slide Number Placeholder 3">
            <a:extLst>
              <a:ext uri="{FF2B5EF4-FFF2-40B4-BE49-F238E27FC236}">
                <a16:creationId xmlns:a16="http://schemas.microsoft.com/office/drawing/2014/main" id="{B92420D4-7630-A09F-BFA8-8597D51B5F6B}"/>
              </a:ext>
            </a:extLst>
          </p:cNvPr>
          <p:cNvSpPr>
            <a:spLocks noGrp="1"/>
          </p:cNvSpPr>
          <p:nvPr>
            <p:ph type="sldNum" sz="quarter" idx="12"/>
          </p:nvPr>
        </p:nvSpPr>
        <p:spPr/>
        <p:txBody>
          <a:bodyPr/>
          <a:lstStyle/>
          <a:p>
            <a:fld id="{FE024F78-56A6-7740-B68D-8D4D026EDF3F}" type="slidenum">
              <a:rPr lang="en-US" smtClean="0"/>
              <a:pPr/>
              <a:t>15</a:t>
            </a:fld>
            <a:endParaRPr lang="en-US" dirty="0"/>
          </a:p>
        </p:txBody>
      </p:sp>
    </p:spTree>
    <p:extLst>
      <p:ext uri="{BB962C8B-B14F-4D97-AF65-F5344CB8AC3E}">
        <p14:creationId xmlns:p14="http://schemas.microsoft.com/office/powerpoint/2010/main" val="3243044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CDDAA-E8D0-6B99-8727-A12BF1978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8E935-BE7E-5873-7F6C-768222B1947E}"/>
              </a:ext>
            </a:extLst>
          </p:cNvPr>
          <p:cNvSpPr>
            <a:spLocks noGrp="1"/>
          </p:cNvSpPr>
          <p:nvPr>
            <p:ph type="title"/>
          </p:nvPr>
        </p:nvSpPr>
        <p:spPr>
          <a:xfrm>
            <a:off x="6889627" y="173736"/>
            <a:ext cx="4364568" cy="1548861"/>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5A044F1B-00CF-07D0-A640-709817631558}"/>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CE49DCE3-3D8B-F062-AFA0-340D0AC8FDA6}"/>
              </a:ext>
            </a:extLst>
          </p:cNvPr>
          <p:cNvSpPr>
            <a:spLocks noGrp="1"/>
          </p:cNvSpPr>
          <p:nvPr>
            <p:ph sz="quarter" idx="36"/>
          </p:nvPr>
        </p:nvSpPr>
        <p:spPr>
          <a:xfrm>
            <a:off x="6889627" y="2949497"/>
            <a:ext cx="4359654" cy="3879448"/>
          </a:xfrm>
        </p:spPr>
        <p:txBody>
          <a:bodyPr vert="horz" lIns="91440" tIns="45720" rIns="91440" bIns="45720" rtlCol="0" anchor="t">
            <a:normAutofit fontScale="92500" lnSpcReduction="20000"/>
          </a:bodyPr>
          <a:lstStyle/>
          <a:p>
            <a:r>
              <a:rPr lang="en-US" b="1"/>
              <a:t>3. Database Layer</a:t>
            </a:r>
            <a:endParaRPr lang="en-US"/>
          </a:p>
          <a:p>
            <a:pPr marL="285750" indent="-285750">
              <a:buFont typeface="Arial"/>
              <a:buChar char="•"/>
            </a:pPr>
            <a:r>
              <a:rPr lang="en-US" b="1">
                <a:ea typeface="+mn-lt"/>
                <a:cs typeface="+mn-lt"/>
              </a:rPr>
              <a:t>MySQL</a:t>
            </a:r>
            <a:r>
              <a:rPr lang="en-US">
                <a:ea typeface="+mn-lt"/>
                <a:cs typeface="+mn-lt"/>
              </a:rPr>
              <a:t> for persistence.</a:t>
            </a:r>
            <a:endParaRPr lang="en-US"/>
          </a:p>
          <a:p>
            <a:pPr marL="285750" indent="-285750">
              <a:buFont typeface="Arial"/>
              <a:buChar char="•"/>
            </a:pPr>
            <a:r>
              <a:rPr lang="en-US">
                <a:ea typeface="+mn-lt"/>
                <a:cs typeface="+mn-lt"/>
              </a:rPr>
              <a:t>Stores:</a:t>
            </a:r>
            <a:endParaRPr lang="en-US"/>
          </a:p>
          <a:p>
            <a:pPr marL="854710" lvl="1">
              <a:buClr>
                <a:srgbClr val="09963B"/>
              </a:buClr>
              <a:buFont typeface="Arial"/>
              <a:buChar char="•"/>
            </a:pPr>
            <a:r>
              <a:rPr lang="en-US">
                <a:solidFill>
                  <a:schemeClr val="bg2"/>
                </a:solidFill>
                <a:ea typeface="+mn-lt"/>
                <a:cs typeface="+mn-lt"/>
              </a:rPr>
              <a:t>User profiles + agent configs.</a:t>
            </a:r>
            <a:endParaRPr lang="en-US">
              <a:solidFill>
                <a:schemeClr val="bg2"/>
              </a:solidFill>
            </a:endParaRPr>
          </a:p>
          <a:p>
            <a:pPr marL="854710" lvl="1">
              <a:buClr>
                <a:srgbClr val="09963B"/>
              </a:buClr>
              <a:buFont typeface="Arial"/>
              <a:buChar char="•"/>
            </a:pPr>
            <a:r>
              <a:rPr lang="en-US">
                <a:solidFill>
                  <a:schemeClr val="bg2"/>
                </a:solidFill>
                <a:ea typeface="+mn-lt"/>
                <a:cs typeface="+mn-lt"/>
              </a:rPr>
              <a:t>On-chain pool data (synced via event indexer).</a:t>
            </a:r>
            <a:endParaRPr lang="en-US">
              <a:solidFill>
                <a:schemeClr val="bg2"/>
              </a:solidFill>
            </a:endParaRPr>
          </a:p>
          <a:p>
            <a:pPr marL="854710" lvl="1">
              <a:buClr>
                <a:srgbClr val="09963B"/>
              </a:buClr>
              <a:buFont typeface="Arial"/>
              <a:buChar char="•"/>
            </a:pPr>
            <a:r>
              <a:rPr lang="en-US">
                <a:solidFill>
                  <a:schemeClr val="bg2"/>
                </a:solidFill>
                <a:ea typeface="+mn-lt"/>
                <a:cs typeface="+mn-lt"/>
              </a:rPr>
              <a:t>LP positions, swap history.</a:t>
            </a:r>
            <a:endParaRPr lang="en-US">
              <a:solidFill>
                <a:schemeClr val="bg2"/>
              </a:solidFill>
            </a:endParaRPr>
          </a:p>
          <a:p>
            <a:pPr marL="854710" lvl="1">
              <a:buClr>
                <a:srgbClr val="09963B"/>
              </a:buClr>
              <a:buFont typeface="Arial"/>
              <a:buChar char="•"/>
            </a:pPr>
            <a:r>
              <a:rPr lang="en-US">
                <a:solidFill>
                  <a:schemeClr val="bg2"/>
                </a:solidFill>
                <a:ea typeface="+mn-lt"/>
                <a:cs typeface="+mn-lt"/>
              </a:rPr>
              <a:t>Agent action logs (for transparency).</a:t>
            </a:r>
            <a:endParaRPr lang="en-US">
              <a:solidFill>
                <a:schemeClr val="bg2"/>
              </a:solidFill>
            </a:endParaRPr>
          </a:p>
          <a:p>
            <a:endParaRPr lang="en-US" b="1" dirty="0"/>
          </a:p>
          <a:p>
            <a:endParaRPr lang="en-US" dirty="0"/>
          </a:p>
        </p:txBody>
      </p:sp>
      <p:sp>
        <p:nvSpPr>
          <p:cNvPr id="4" name="Slide Number Placeholder 3">
            <a:extLst>
              <a:ext uri="{FF2B5EF4-FFF2-40B4-BE49-F238E27FC236}">
                <a16:creationId xmlns:a16="http://schemas.microsoft.com/office/drawing/2014/main" id="{95081B5C-7156-6082-0980-23F50C65F764}"/>
              </a:ext>
            </a:extLst>
          </p:cNvPr>
          <p:cNvSpPr>
            <a:spLocks noGrp="1"/>
          </p:cNvSpPr>
          <p:nvPr>
            <p:ph type="sldNum" sz="quarter" idx="12"/>
          </p:nvPr>
        </p:nvSpPr>
        <p:spPr/>
        <p:txBody>
          <a:bodyPr/>
          <a:lstStyle/>
          <a:p>
            <a:fld id="{FE024F78-56A6-7740-B68D-8D4D026EDF3F}" type="slidenum">
              <a:rPr lang="en-US" smtClean="0"/>
              <a:pPr/>
              <a:t>16</a:t>
            </a:fld>
            <a:endParaRPr lang="en-US" dirty="0"/>
          </a:p>
        </p:txBody>
      </p:sp>
    </p:spTree>
    <p:extLst>
      <p:ext uri="{BB962C8B-B14F-4D97-AF65-F5344CB8AC3E}">
        <p14:creationId xmlns:p14="http://schemas.microsoft.com/office/powerpoint/2010/main" val="47821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F6E75-A1DF-3B2B-44CF-E857EB56B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2B6A0-7B7D-13CE-DF2B-8CCA981E5868}"/>
              </a:ext>
            </a:extLst>
          </p:cNvPr>
          <p:cNvSpPr>
            <a:spLocks noGrp="1"/>
          </p:cNvSpPr>
          <p:nvPr>
            <p:ph type="title"/>
          </p:nvPr>
        </p:nvSpPr>
        <p:spPr>
          <a:xfrm>
            <a:off x="6889627" y="173736"/>
            <a:ext cx="4352662" cy="1715548"/>
          </a:xfrm>
        </p:spPr>
        <p:txBody>
          <a:bodyPr/>
          <a:lstStyle/>
          <a:p>
            <a:r>
              <a:rPr lang="en-US"/>
              <a:t>Tech Stack</a:t>
            </a:r>
            <a:endParaRPr lang="en-US" noProof="0" dirty="0"/>
          </a:p>
        </p:txBody>
      </p:sp>
      <p:pic>
        <p:nvPicPr>
          <p:cNvPr id="6" name="Picture Placeholder 5" descr="A blue and purple spiral">
            <a:extLst>
              <a:ext uri="{FF2B5EF4-FFF2-40B4-BE49-F238E27FC236}">
                <a16:creationId xmlns:a16="http://schemas.microsoft.com/office/drawing/2014/main" id="{298A2519-2BF0-F338-72C1-316A745C7270}"/>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FC6EDF12-45E9-EC86-E3C1-71E6ED667C3C}"/>
              </a:ext>
            </a:extLst>
          </p:cNvPr>
          <p:cNvSpPr>
            <a:spLocks noGrp="1"/>
          </p:cNvSpPr>
          <p:nvPr>
            <p:ph sz="quarter" idx="36"/>
          </p:nvPr>
        </p:nvSpPr>
        <p:spPr>
          <a:xfrm>
            <a:off x="6889627" y="2854246"/>
            <a:ext cx="4704935" cy="3677043"/>
          </a:xfrm>
        </p:spPr>
        <p:txBody>
          <a:bodyPr vert="horz" lIns="91440" tIns="45720" rIns="91440" bIns="45720" rtlCol="0" anchor="t">
            <a:normAutofit fontScale="92500" lnSpcReduction="10000"/>
          </a:bodyPr>
          <a:lstStyle/>
          <a:p>
            <a:r>
              <a:rPr lang="en-US" b="1"/>
              <a:t>2. Backend API</a:t>
            </a:r>
            <a:endParaRPr lang="en-US"/>
          </a:p>
          <a:p>
            <a:pPr marL="285750" indent="-285750">
              <a:buFont typeface="Arial"/>
              <a:buChar char="•"/>
            </a:pPr>
            <a:r>
              <a:rPr lang="en-US">
                <a:ea typeface="+mn-lt"/>
                <a:cs typeface="+mn-lt"/>
              </a:rPr>
              <a:t>Built with </a:t>
            </a:r>
            <a:r>
              <a:rPr lang="en-US" b="1">
                <a:ea typeface="+mn-lt"/>
                <a:cs typeface="+mn-lt"/>
              </a:rPr>
              <a:t>FastAPI (Python)</a:t>
            </a:r>
            <a:endParaRPr lang="en-US"/>
          </a:p>
          <a:p>
            <a:pPr marL="285750" indent="-285750">
              <a:buFont typeface="Arial"/>
              <a:buChar char="•"/>
            </a:pPr>
            <a:r>
              <a:rPr lang="en-US">
                <a:ea typeface="+mn-lt"/>
                <a:cs typeface="+mn-lt"/>
              </a:rPr>
              <a:t>Handles:</a:t>
            </a:r>
          </a:p>
          <a:p>
            <a:pPr marL="854710" lvl="1">
              <a:buClr>
                <a:srgbClr val="09963B"/>
              </a:buClr>
              <a:buFont typeface="Arial"/>
              <a:buChar char="•"/>
            </a:pPr>
            <a:r>
              <a:rPr lang="en-US">
                <a:solidFill>
                  <a:schemeClr val="bg1"/>
                </a:solidFill>
                <a:ea typeface="+mn-lt"/>
                <a:cs typeface="+mn-lt"/>
              </a:rPr>
              <a:t>User authentication (Sign-In with Ethereum).</a:t>
            </a:r>
            <a:endParaRPr lang="en-US">
              <a:solidFill>
                <a:schemeClr val="bg1"/>
              </a:solidFill>
            </a:endParaRPr>
          </a:p>
          <a:p>
            <a:pPr marL="854710" lvl="1">
              <a:buClr>
                <a:srgbClr val="09963B"/>
              </a:buClr>
              <a:buFont typeface="Arial"/>
              <a:buChar char="•"/>
            </a:pPr>
            <a:r>
              <a:rPr lang="en-US">
                <a:solidFill>
                  <a:schemeClr val="bg1"/>
                </a:solidFill>
                <a:ea typeface="+mn-lt"/>
                <a:cs typeface="+mn-lt"/>
              </a:rPr>
              <a:t>Fetching pool/swaps data from DB.</a:t>
            </a:r>
          </a:p>
          <a:p>
            <a:pPr marL="854710" lvl="1">
              <a:buClr>
                <a:srgbClr val="09963B"/>
              </a:buClr>
              <a:buFont typeface="Arial"/>
              <a:buChar char="•"/>
            </a:pPr>
            <a:r>
              <a:rPr lang="en-US">
                <a:solidFill>
                  <a:schemeClr val="bg1"/>
                </a:solidFill>
                <a:ea typeface="+mn-lt"/>
                <a:cs typeface="+mn-lt"/>
              </a:rPr>
              <a:t>Storing agent preferences.</a:t>
            </a:r>
          </a:p>
          <a:p>
            <a:pPr marL="854710" lvl="1">
              <a:buClr>
                <a:srgbClr val="09963B"/>
              </a:buClr>
              <a:buFont typeface="Arial"/>
              <a:buChar char="•"/>
            </a:pPr>
            <a:r>
              <a:rPr lang="en-US">
                <a:solidFill>
                  <a:schemeClr val="bg1"/>
                </a:solidFill>
                <a:ea typeface="+mn-lt"/>
                <a:cs typeface="+mn-lt"/>
              </a:rPr>
              <a:t>Analytics dashboards.</a:t>
            </a:r>
          </a:p>
          <a:p>
            <a:endParaRPr lang="en-US" b="1" dirty="0"/>
          </a:p>
          <a:p>
            <a:endParaRPr lang="en-US" dirty="0"/>
          </a:p>
        </p:txBody>
      </p:sp>
      <p:sp>
        <p:nvSpPr>
          <p:cNvPr id="4" name="Slide Number Placeholder 3">
            <a:extLst>
              <a:ext uri="{FF2B5EF4-FFF2-40B4-BE49-F238E27FC236}">
                <a16:creationId xmlns:a16="http://schemas.microsoft.com/office/drawing/2014/main" id="{7E188555-C8CE-AA98-468C-A4FAB287751B}"/>
              </a:ext>
            </a:extLst>
          </p:cNvPr>
          <p:cNvSpPr>
            <a:spLocks noGrp="1"/>
          </p:cNvSpPr>
          <p:nvPr>
            <p:ph type="sldNum" sz="quarter" idx="12"/>
          </p:nvPr>
        </p:nvSpPr>
        <p:spPr/>
        <p:txBody>
          <a:bodyPr/>
          <a:lstStyle/>
          <a:p>
            <a:fld id="{FE024F78-56A6-7740-B68D-8D4D026EDF3F}" type="slidenum">
              <a:rPr lang="en-US" smtClean="0"/>
              <a:pPr/>
              <a:t>17</a:t>
            </a:fld>
            <a:endParaRPr lang="en-US" dirty="0"/>
          </a:p>
        </p:txBody>
      </p:sp>
    </p:spTree>
    <p:extLst>
      <p:ext uri="{BB962C8B-B14F-4D97-AF65-F5344CB8AC3E}">
        <p14:creationId xmlns:p14="http://schemas.microsoft.com/office/powerpoint/2010/main" val="927995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B0BB9-279D-D86B-21B3-5BE0BB88B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6601C-3524-1052-D91E-7663FD2468AB}"/>
              </a:ext>
            </a:extLst>
          </p:cNvPr>
          <p:cNvSpPr>
            <a:spLocks noGrp="1"/>
          </p:cNvSpPr>
          <p:nvPr>
            <p:ph type="title"/>
          </p:nvPr>
        </p:nvSpPr>
        <p:spPr>
          <a:xfrm>
            <a:off x="321869" y="579120"/>
            <a:ext cx="11560167" cy="5519368"/>
          </a:xfrm>
        </p:spPr>
        <p:txBody>
          <a:bodyPr/>
          <a:lstStyle/>
          <a:p>
            <a:r>
              <a:rPr lang="en-US" sz="3600" b="1" dirty="0">
                <a:solidFill>
                  <a:srgbClr val="FFFFFF"/>
                </a:solidFill>
                <a:ea typeface="+mj-lt"/>
                <a:cs typeface="Biome"/>
              </a:rPr>
              <a:t>Technology  SummARy</a:t>
            </a:r>
            <a:br>
              <a:rPr lang="en-US" b="1" dirty="0"/>
            </a:br>
            <a:br>
              <a:rPr lang="en-US" dirty="0"/>
            </a:br>
            <a:r>
              <a:rPr lang="en-US" dirty="0">
                <a:solidFill>
                  <a:schemeClr val="bg2"/>
                </a:solidFill>
                <a:ea typeface="+mj-lt"/>
                <a:cs typeface="+mj-lt"/>
              </a:rPr>
              <a:t>The project will use Solidity (smart contracts), Reactjs (frontend), FastAPI + mySQL (backend), MCP server , and Python agents, all containerized with Docker and deployed on Ethereum mainnet + cloud </a:t>
            </a:r>
            <a:r>
              <a:rPr lang="en-US">
                <a:solidFill>
                  <a:schemeClr val="bg2"/>
                </a:solidFill>
                <a:ea typeface="+mj-lt"/>
                <a:cs typeface="+mj-lt"/>
              </a:rPr>
              <a:t>infrastructure like kubernetes.</a:t>
            </a:r>
            <a:br>
              <a:rPr lang="en-US" dirty="0"/>
            </a:br>
            <a:endParaRPr lang="en-US">
              <a:solidFill>
                <a:schemeClr val="bg2"/>
              </a:solidFill>
            </a:endParaRPr>
          </a:p>
        </p:txBody>
      </p:sp>
      <p:sp>
        <p:nvSpPr>
          <p:cNvPr id="3" name="Slide Number Placeholder 2">
            <a:extLst>
              <a:ext uri="{FF2B5EF4-FFF2-40B4-BE49-F238E27FC236}">
                <a16:creationId xmlns:a16="http://schemas.microsoft.com/office/drawing/2014/main" id="{CB4B0C1E-AA4A-8889-530F-344D69D2E514}"/>
              </a:ext>
            </a:extLst>
          </p:cNvPr>
          <p:cNvSpPr>
            <a:spLocks noGrp="1"/>
          </p:cNvSpPr>
          <p:nvPr>
            <p:ph type="sldNum" sz="quarter" idx="12"/>
          </p:nvPr>
        </p:nvSpPr>
        <p:spPr/>
        <p:txBody>
          <a:bodyPr/>
          <a:lstStyle/>
          <a:p>
            <a:fld id="{FE024F78-56A6-7740-B68D-8D4D026EDF3F}" type="slidenum">
              <a:rPr lang="en-US" smtClean="0"/>
              <a:pPr/>
              <a:t>18</a:t>
            </a:fld>
            <a:endParaRPr lang="en-US" dirty="0"/>
          </a:p>
        </p:txBody>
      </p:sp>
    </p:spTree>
    <p:extLst>
      <p:ext uri="{BB962C8B-B14F-4D97-AF65-F5344CB8AC3E}">
        <p14:creationId xmlns:p14="http://schemas.microsoft.com/office/powerpoint/2010/main" val="4236824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FCCA4-02B1-84E2-9300-BBF95F6CF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721A7-FD9C-2D80-F6F3-8AEAE0CACAF3}"/>
              </a:ext>
            </a:extLst>
          </p:cNvPr>
          <p:cNvSpPr>
            <a:spLocks noGrp="1"/>
          </p:cNvSpPr>
          <p:nvPr>
            <p:ph type="title"/>
          </p:nvPr>
        </p:nvSpPr>
        <p:spPr>
          <a:xfrm>
            <a:off x="6889627" y="173736"/>
            <a:ext cx="4352662" cy="1727455"/>
          </a:xfrm>
        </p:spPr>
        <p:txBody>
          <a:bodyPr/>
          <a:lstStyle/>
          <a:p>
            <a:r>
              <a:rPr lang="en-US"/>
              <a:t>Further Enhancements</a:t>
            </a:r>
            <a:endParaRPr lang="en-US" noProof="0" dirty="0"/>
          </a:p>
        </p:txBody>
      </p:sp>
      <p:pic>
        <p:nvPicPr>
          <p:cNvPr id="6" name="Picture Placeholder 5" descr="A blue and purple spiral">
            <a:extLst>
              <a:ext uri="{FF2B5EF4-FFF2-40B4-BE49-F238E27FC236}">
                <a16:creationId xmlns:a16="http://schemas.microsoft.com/office/drawing/2014/main" id="{43B083CC-AC5A-4811-97B1-5C6EBFB4FCA8}"/>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FA496766-EA30-D378-5A49-C580EE91A829}"/>
              </a:ext>
            </a:extLst>
          </p:cNvPr>
          <p:cNvSpPr>
            <a:spLocks noGrp="1"/>
          </p:cNvSpPr>
          <p:nvPr>
            <p:ph sz="quarter" idx="36"/>
          </p:nvPr>
        </p:nvSpPr>
        <p:spPr>
          <a:xfrm>
            <a:off x="6889627" y="2889964"/>
            <a:ext cx="4788279" cy="3522263"/>
          </a:xfrm>
        </p:spPr>
        <p:txBody>
          <a:bodyPr vert="horz" lIns="91440" tIns="45720" rIns="91440" bIns="45720" rtlCol="0" anchor="t">
            <a:normAutofit fontScale="92500" lnSpcReduction="20000"/>
          </a:bodyPr>
          <a:lstStyle/>
          <a:p>
            <a:r>
              <a:rPr lang="en-US" b="1"/>
              <a:t>1. Lending &amp; Borrowing (Aave-like Extension)</a:t>
            </a:r>
          </a:p>
          <a:p>
            <a:pPr marL="228600" indent="-228600">
              <a:buFont typeface=""/>
              <a:buChar char="•"/>
            </a:pPr>
            <a:r>
              <a:rPr lang="en-US"/>
              <a:t>Introduce </a:t>
            </a:r>
            <a:r>
              <a:rPr lang="en-US" b="1"/>
              <a:t>money markets</a:t>
            </a:r>
            <a:r>
              <a:rPr lang="en-US"/>
              <a:t> for deposits and collateralized borrowing.</a:t>
            </a:r>
          </a:p>
          <a:p>
            <a:pPr marL="228600" indent="-228600">
              <a:buFont typeface=""/>
              <a:buChar char="•"/>
            </a:pPr>
            <a:r>
              <a:rPr lang="en-US"/>
              <a:t>Support </a:t>
            </a:r>
            <a:r>
              <a:rPr lang="en-US" b="1"/>
              <a:t>overcollateralized loans</a:t>
            </a:r>
            <a:r>
              <a:rPr lang="en-US"/>
              <a:t> with automated liquidations.</a:t>
            </a:r>
          </a:p>
          <a:p>
            <a:pPr marL="228600" indent="-228600">
              <a:buFont typeface=""/>
              <a:buChar char="•"/>
            </a:pPr>
            <a:r>
              <a:rPr lang="en-US"/>
              <a:t>Dynamic </a:t>
            </a:r>
            <a:r>
              <a:rPr lang="en-US" b="1"/>
              <a:t>interest rate models</a:t>
            </a:r>
            <a:r>
              <a:rPr lang="en-US"/>
              <a:t> based on supply &amp; demand.</a:t>
            </a:r>
          </a:p>
          <a:p>
            <a:pPr marL="228600" indent="-228600">
              <a:buFont typeface=""/>
              <a:buChar char="•"/>
            </a:pPr>
            <a:r>
              <a:rPr lang="en-US"/>
              <a:t>Integrate </a:t>
            </a:r>
            <a:r>
              <a:rPr lang="en-US" b="1"/>
              <a:t>flash loans</a:t>
            </a:r>
            <a:r>
              <a:rPr lang="en-US"/>
              <a:t> for arbitrage and advanced DeFi strategies.</a:t>
            </a:r>
            <a:endParaRPr lang="en-US" dirty="0"/>
          </a:p>
        </p:txBody>
      </p:sp>
      <p:sp>
        <p:nvSpPr>
          <p:cNvPr id="4" name="Slide Number Placeholder 3">
            <a:extLst>
              <a:ext uri="{FF2B5EF4-FFF2-40B4-BE49-F238E27FC236}">
                <a16:creationId xmlns:a16="http://schemas.microsoft.com/office/drawing/2014/main" id="{32868ABA-F9F2-65E9-B5F9-AE6E6BF36FE6}"/>
              </a:ext>
            </a:extLst>
          </p:cNvPr>
          <p:cNvSpPr>
            <a:spLocks noGrp="1"/>
          </p:cNvSpPr>
          <p:nvPr>
            <p:ph type="sldNum" sz="quarter" idx="12"/>
          </p:nvPr>
        </p:nvSpPr>
        <p:spPr/>
        <p:txBody>
          <a:bodyPr/>
          <a:lstStyle/>
          <a:p>
            <a:fld id="{FE024F78-56A6-7740-B68D-8D4D026EDF3F}" type="slidenum">
              <a:rPr lang="en-US" smtClean="0"/>
              <a:pPr/>
              <a:t>19</a:t>
            </a:fld>
            <a:endParaRPr lang="en-US" dirty="0"/>
          </a:p>
        </p:txBody>
      </p:sp>
    </p:spTree>
    <p:extLst>
      <p:ext uri="{BB962C8B-B14F-4D97-AF65-F5344CB8AC3E}">
        <p14:creationId xmlns:p14="http://schemas.microsoft.com/office/powerpoint/2010/main" val="2791751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802DE-A6FA-6177-8019-EC5F8E8FE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78C17-EF9B-36FF-0AFE-4572589D799A}"/>
              </a:ext>
            </a:extLst>
          </p:cNvPr>
          <p:cNvSpPr>
            <a:spLocks noGrp="1"/>
          </p:cNvSpPr>
          <p:nvPr>
            <p:ph type="title"/>
          </p:nvPr>
        </p:nvSpPr>
        <p:spPr>
          <a:xfrm>
            <a:off x="6889627" y="173736"/>
            <a:ext cx="4352662" cy="1727455"/>
          </a:xfrm>
        </p:spPr>
        <p:txBody>
          <a:bodyPr/>
          <a:lstStyle/>
          <a:p>
            <a:r>
              <a:rPr lang="en-US"/>
              <a:t>Further Enhancements</a:t>
            </a:r>
            <a:endParaRPr lang="en-US" noProof="0" dirty="0"/>
          </a:p>
        </p:txBody>
      </p:sp>
      <p:pic>
        <p:nvPicPr>
          <p:cNvPr id="6" name="Picture Placeholder 5" descr="A blue and purple spiral">
            <a:extLst>
              <a:ext uri="{FF2B5EF4-FFF2-40B4-BE49-F238E27FC236}">
                <a16:creationId xmlns:a16="http://schemas.microsoft.com/office/drawing/2014/main" id="{9A7CD7D2-DF26-65FA-0B87-74048C81C700}"/>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F16C1F31-C018-CD50-B921-2DCAEC58AEF9}"/>
              </a:ext>
            </a:extLst>
          </p:cNvPr>
          <p:cNvSpPr>
            <a:spLocks noGrp="1"/>
          </p:cNvSpPr>
          <p:nvPr>
            <p:ph sz="quarter" idx="36"/>
          </p:nvPr>
        </p:nvSpPr>
        <p:spPr>
          <a:xfrm>
            <a:off x="6889627" y="2889964"/>
            <a:ext cx="4788279" cy="3522263"/>
          </a:xfrm>
        </p:spPr>
        <p:txBody>
          <a:bodyPr vert="horz" lIns="91440" tIns="45720" rIns="91440" bIns="45720" rtlCol="0" anchor="t">
            <a:normAutofit fontScale="70000" lnSpcReduction="20000"/>
          </a:bodyPr>
          <a:lstStyle/>
          <a:p>
            <a:r>
              <a:rPr lang="en-US" b="1"/>
              <a:t>2. Agent Enhancements</a:t>
            </a:r>
            <a:endParaRPr lang="en-US"/>
          </a:p>
          <a:p>
            <a:pPr marL="285750" indent="-285750">
              <a:buFont typeface="Arial"/>
              <a:buChar char="•"/>
            </a:pPr>
            <a:r>
              <a:rPr lang="en-US" b="1">
                <a:ea typeface="+mn-lt"/>
                <a:cs typeface="+mn-lt"/>
              </a:rPr>
              <a:t>Risk Management Agents</a:t>
            </a:r>
            <a:r>
              <a:rPr lang="en-US">
                <a:ea typeface="+mn-lt"/>
                <a:cs typeface="+mn-lt"/>
              </a:rPr>
              <a:t> → monitor collateral ratios, prevent liquidation, auto-rebalance.</a:t>
            </a:r>
            <a:endParaRPr lang="en-US"/>
          </a:p>
          <a:p>
            <a:pPr marL="285750" indent="-285750">
              <a:buFont typeface="Arial"/>
              <a:buChar char="•"/>
            </a:pPr>
            <a:r>
              <a:rPr lang="en-US" b="1">
                <a:ea typeface="+mn-lt"/>
                <a:cs typeface="+mn-lt"/>
              </a:rPr>
              <a:t>Arbitrage Agents</a:t>
            </a:r>
            <a:r>
              <a:rPr lang="en-US">
                <a:ea typeface="+mn-lt"/>
                <a:cs typeface="+mn-lt"/>
              </a:rPr>
              <a:t> → detect and execute cross-pool or cross-DEX opportunities.</a:t>
            </a:r>
            <a:endParaRPr lang="en-US"/>
          </a:p>
          <a:p>
            <a:pPr marL="285750" indent="-285750">
              <a:buFont typeface="Arial"/>
              <a:buChar char="•"/>
            </a:pPr>
            <a:r>
              <a:rPr lang="en-US" b="1">
                <a:ea typeface="+mn-lt"/>
                <a:cs typeface="+mn-lt"/>
              </a:rPr>
              <a:t>Yield Optimization Agents</a:t>
            </a:r>
            <a:r>
              <a:rPr lang="en-US">
                <a:ea typeface="+mn-lt"/>
                <a:cs typeface="+mn-lt"/>
              </a:rPr>
              <a:t> → move liquidity across pools to maximize APY.</a:t>
            </a:r>
            <a:endParaRPr lang="en-US"/>
          </a:p>
          <a:p>
            <a:pPr marL="285750" indent="-285750">
              <a:buFont typeface="Arial"/>
              <a:buChar char="•"/>
            </a:pPr>
            <a:r>
              <a:rPr lang="en-US" b="1">
                <a:ea typeface="+mn-lt"/>
                <a:cs typeface="+mn-lt"/>
              </a:rPr>
              <a:t>Notification Agents</a:t>
            </a:r>
            <a:r>
              <a:rPr lang="en-US">
                <a:ea typeface="+mn-lt"/>
                <a:cs typeface="+mn-lt"/>
              </a:rPr>
              <a:t> → alert users of high volatility, impermanent loss, or liquidation risks.</a:t>
            </a:r>
            <a:endParaRPr lang="en-US"/>
          </a:p>
          <a:p>
            <a:pPr marL="285750" indent="-285750">
              <a:buFont typeface="Arial"/>
              <a:buChar char="•"/>
            </a:pPr>
            <a:r>
              <a:rPr lang="en-US" b="1">
                <a:ea typeface="+mn-lt"/>
                <a:cs typeface="+mn-lt"/>
              </a:rPr>
              <a:t>DAO Governance Agents</a:t>
            </a:r>
            <a:r>
              <a:rPr lang="en-US">
                <a:ea typeface="+mn-lt"/>
                <a:cs typeface="+mn-lt"/>
              </a:rPr>
              <a:t> → allow automated proposals and voting delegation for governance.</a:t>
            </a:r>
            <a:endParaRPr lang="en-US"/>
          </a:p>
          <a:p>
            <a:endParaRPr lang="en-US" b="1" dirty="0"/>
          </a:p>
        </p:txBody>
      </p:sp>
      <p:sp>
        <p:nvSpPr>
          <p:cNvPr id="4" name="Slide Number Placeholder 3">
            <a:extLst>
              <a:ext uri="{FF2B5EF4-FFF2-40B4-BE49-F238E27FC236}">
                <a16:creationId xmlns:a16="http://schemas.microsoft.com/office/drawing/2014/main" id="{238A6275-32AF-1867-BC89-C7359F3E2021}"/>
              </a:ext>
            </a:extLst>
          </p:cNvPr>
          <p:cNvSpPr>
            <a:spLocks noGrp="1"/>
          </p:cNvSpPr>
          <p:nvPr>
            <p:ph type="sldNum" sz="quarter" idx="12"/>
          </p:nvPr>
        </p:nvSpPr>
        <p:spPr/>
        <p:txBody>
          <a:bodyPr/>
          <a:lstStyle/>
          <a:p>
            <a:fld id="{FE024F78-56A6-7740-B68D-8D4D026EDF3F}" type="slidenum">
              <a:rPr lang="en-US" smtClean="0"/>
              <a:pPr/>
              <a:t>20</a:t>
            </a:fld>
            <a:endParaRPr lang="en-US" dirty="0"/>
          </a:p>
        </p:txBody>
      </p:sp>
    </p:spTree>
    <p:extLst>
      <p:ext uri="{BB962C8B-B14F-4D97-AF65-F5344CB8AC3E}">
        <p14:creationId xmlns:p14="http://schemas.microsoft.com/office/powerpoint/2010/main" val="14651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824F8-12B0-1435-098F-0B42886B6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362C1-6A1B-5DE1-6ADD-5227DAB0FB44}"/>
              </a:ext>
            </a:extLst>
          </p:cNvPr>
          <p:cNvSpPr>
            <a:spLocks noGrp="1"/>
          </p:cNvSpPr>
          <p:nvPr>
            <p:ph type="title"/>
          </p:nvPr>
        </p:nvSpPr>
        <p:spPr>
          <a:xfrm>
            <a:off x="6889627" y="173736"/>
            <a:ext cx="4352662" cy="1727455"/>
          </a:xfrm>
        </p:spPr>
        <p:txBody>
          <a:bodyPr/>
          <a:lstStyle/>
          <a:p>
            <a:r>
              <a:rPr lang="en-US"/>
              <a:t>Further Enhancements</a:t>
            </a:r>
            <a:endParaRPr lang="en-US" noProof="0" dirty="0"/>
          </a:p>
        </p:txBody>
      </p:sp>
      <p:pic>
        <p:nvPicPr>
          <p:cNvPr id="6" name="Picture Placeholder 5" descr="A blue and purple spiral">
            <a:extLst>
              <a:ext uri="{FF2B5EF4-FFF2-40B4-BE49-F238E27FC236}">
                <a16:creationId xmlns:a16="http://schemas.microsoft.com/office/drawing/2014/main" id="{1D48E8AA-E0C1-F6F0-1BDE-3B8BDE035B49}"/>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p:pic>
      <p:sp>
        <p:nvSpPr>
          <p:cNvPr id="3" name="Content Placeholder 2">
            <a:extLst>
              <a:ext uri="{FF2B5EF4-FFF2-40B4-BE49-F238E27FC236}">
                <a16:creationId xmlns:a16="http://schemas.microsoft.com/office/drawing/2014/main" id="{DC197388-A0D0-5FC5-C1D0-FBC788D2A8B3}"/>
              </a:ext>
            </a:extLst>
          </p:cNvPr>
          <p:cNvSpPr>
            <a:spLocks noGrp="1"/>
          </p:cNvSpPr>
          <p:nvPr>
            <p:ph sz="quarter" idx="36"/>
          </p:nvPr>
        </p:nvSpPr>
        <p:spPr>
          <a:xfrm>
            <a:off x="6889627" y="2889964"/>
            <a:ext cx="4788279" cy="3522263"/>
          </a:xfrm>
        </p:spPr>
        <p:txBody>
          <a:bodyPr vert="horz" lIns="91440" tIns="45720" rIns="91440" bIns="45720" rtlCol="0" anchor="t">
            <a:normAutofit fontScale="92500"/>
          </a:bodyPr>
          <a:lstStyle/>
          <a:p>
            <a:r>
              <a:rPr lang="en-US" b="1"/>
              <a:t>3. Ecosystem Expansion</a:t>
            </a:r>
            <a:endParaRPr lang="en-US"/>
          </a:p>
          <a:p>
            <a:pPr marL="285750" indent="-285750">
              <a:buFont typeface="Arial"/>
              <a:buChar char="•"/>
            </a:pPr>
            <a:r>
              <a:rPr lang="en-US">
                <a:ea typeface="+mn-lt"/>
                <a:cs typeface="+mn-lt"/>
              </a:rPr>
              <a:t>Add </a:t>
            </a:r>
            <a:r>
              <a:rPr lang="en-US" b="1">
                <a:ea typeface="+mn-lt"/>
                <a:cs typeface="+mn-lt"/>
              </a:rPr>
              <a:t>NFT Collateral</a:t>
            </a:r>
            <a:r>
              <a:rPr lang="en-US">
                <a:ea typeface="+mn-lt"/>
                <a:cs typeface="+mn-lt"/>
              </a:rPr>
              <a:t> (borrow against NFTs).</a:t>
            </a:r>
            <a:endParaRPr lang="en-US"/>
          </a:p>
          <a:p>
            <a:pPr marL="285750" indent="-285750">
              <a:buFont typeface="Arial"/>
              <a:buChar char="•"/>
            </a:pPr>
            <a:r>
              <a:rPr lang="en-US">
                <a:ea typeface="+mn-lt"/>
                <a:cs typeface="+mn-lt"/>
              </a:rPr>
              <a:t>Cross-chain liquidity with </a:t>
            </a:r>
            <a:r>
              <a:rPr lang="en-US" b="1">
                <a:ea typeface="+mn-lt"/>
                <a:cs typeface="+mn-lt"/>
              </a:rPr>
              <a:t>bridges and Layer-2 rollups</a:t>
            </a:r>
            <a:r>
              <a:rPr lang="en-US">
                <a:ea typeface="+mn-lt"/>
                <a:cs typeface="+mn-lt"/>
              </a:rPr>
              <a:t>.</a:t>
            </a:r>
            <a:endParaRPr lang="en-US"/>
          </a:p>
          <a:p>
            <a:pPr marL="285750" indent="-285750">
              <a:buFont typeface="Arial"/>
              <a:buChar char="•"/>
            </a:pPr>
            <a:r>
              <a:rPr lang="en-US">
                <a:ea typeface="+mn-lt"/>
                <a:cs typeface="+mn-lt"/>
              </a:rPr>
              <a:t>Build a </a:t>
            </a:r>
            <a:r>
              <a:rPr lang="en-US" b="1">
                <a:ea typeface="+mn-lt"/>
                <a:cs typeface="+mn-lt"/>
              </a:rPr>
              <a:t>mobile app</a:t>
            </a:r>
            <a:r>
              <a:rPr lang="en-US">
                <a:ea typeface="+mn-lt"/>
                <a:cs typeface="+mn-lt"/>
              </a:rPr>
              <a:t> with agent-controlled trading.</a:t>
            </a:r>
            <a:endParaRPr lang="en-US"/>
          </a:p>
          <a:p>
            <a:pPr marL="285750" indent="-285750">
              <a:buFont typeface="Arial"/>
              <a:buChar char="•"/>
            </a:pPr>
            <a:r>
              <a:rPr lang="en-US">
                <a:ea typeface="+mn-lt"/>
                <a:cs typeface="+mn-lt"/>
              </a:rPr>
              <a:t>Integrate </a:t>
            </a:r>
            <a:r>
              <a:rPr lang="en-US" b="1">
                <a:ea typeface="+mn-lt"/>
                <a:cs typeface="+mn-lt"/>
              </a:rPr>
              <a:t>stablecoins &amp; real-world assets (RWA)</a:t>
            </a:r>
            <a:r>
              <a:rPr lang="en-US">
                <a:ea typeface="+mn-lt"/>
                <a:cs typeface="+mn-lt"/>
              </a:rPr>
              <a:t> for broader financial use cases.</a:t>
            </a:r>
            <a:endParaRPr lang="en-US"/>
          </a:p>
          <a:p>
            <a:endParaRPr lang="en-US" b="1" dirty="0"/>
          </a:p>
        </p:txBody>
      </p:sp>
      <p:sp>
        <p:nvSpPr>
          <p:cNvPr id="4" name="Slide Number Placeholder 3">
            <a:extLst>
              <a:ext uri="{FF2B5EF4-FFF2-40B4-BE49-F238E27FC236}">
                <a16:creationId xmlns:a16="http://schemas.microsoft.com/office/drawing/2014/main" id="{F53C6A0B-509B-9074-F417-07D935FC7482}"/>
              </a:ext>
            </a:extLst>
          </p:cNvPr>
          <p:cNvSpPr>
            <a:spLocks noGrp="1"/>
          </p:cNvSpPr>
          <p:nvPr>
            <p:ph type="sldNum" sz="quarter" idx="12"/>
          </p:nvPr>
        </p:nvSpPr>
        <p:spPr/>
        <p:txBody>
          <a:bodyPr/>
          <a:lstStyle/>
          <a:p>
            <a:fld id="{FE024F78-56A6-7740-B68D-8D4D026EDF3F}" type="slidenum">
              <a:rPr lang="en-US" smtClean="0"/>
              <a:pPr/>
              <a:t>21</a:t>
            </a:fld>
            <a:endParaRPr lang="en-US" dirty="0"/>
          </a:p>
        </p:txBody>
      </p:sp>
    </p:spTree>
    <p:extLst>
      <p:ext uri="{BB962C8B-B14F-4D97-AF65-F5344CB8AC3E}">
        <p14:creationId xmlns:p14="http://schemas.microsoft.com/office/powerpoint/2010/main" val="2598350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810E-8E37-1D8A-245B-020E4E4C0B9F}"/>
              </a:ext>
            </a:extLst>
          </p:cNvPr>
          <p:cNvSpPr>
            <a:spLocks noGrp="1"/>
          </p:cNvSpPr>
          <p:nvPr>
            <p:ph type="title"/>
          </p:nvPr>
        </p:nvSpPr>
        <p:spPr/>
        <p:txBody>
          <a:bodyPr/>
          <a:lstStyle/>
          <a:p>
            <a:r>
              <a:rPr lang="en-US"/>
              <a:t>SCOPE</a:t>
            </a:r>
            <a:endParaRPr lang="en-US" dirty="0"/>
          </a:p>
        </p:txBody>
      </p:sp>
      <p:sp>
        <p:nvSpPr>
          <p:cNvPr id="3" name="Content Placeholder 2">
            <a:extLst>
              <a:ext uri="{FF2B5EF4-FFF2-40B4-BE49-F238E27FC236}">
                <a16:creationId xmlns:a16="http://schemas.microsoft.com/office/drawing/2014/main" id="{7D7CECA3-144C-CD4B-9246-81B4F2E65466}"/>
              </a:ext>
            </a:extLst>
          </p:cNvPr>
          <p:cNvSpPr>
            <a:spLocks noGrp="1"/>
          </p:cNvSpPr>
          <p:nvPr>
            <p:ph sz="quarter" idx="36"/>
          </p:nvPr>
        </p:nvSpPr>
        <p:spPr>
          <a:xfrm>
            <a:off x="754771" y="2465535"/>
            <a:ext cx="9744318" cy="3427265"/>
          </a:xfrm>
        </p:spPr>
        <p:txBody>
          <a:bodyPr vert="horz" lIns="91440" tIns="45720" rIns="91440" bIns="45720" rtlCol="0" anchor="t">
            <a:normAutofit/>
          </a:bodyPr>
          <a:lstStyle/>
          <a:p>
            <a:pPr marL="283210" indent="-283210"/>
            <a:r>
              <a:rPr lang="en-US" sz="2400">
                <a:solidFill>
                  <a:srgbClr val="FFFFFF"/>
                </a:solidFill>
                <a:ea typeface="+mn-lt"/>
                <a:cs typeface="+mn-lt"/>
              </a:rPr>
              <a:t>The project will build a Uniswap-like decentralized exchange (DEX) with liquidity pools, token swaps, and LP tokens, enhanced by autonomous agents via an MCP server to automate trading, pool monitoring, and user risk management. It includes smart contracts, backend database, web3 authentication, analytics dashboard, and a modern web dApp, initially deployed on Ethereum testnet with future scalability to Layer-2 and multi-chain networks.</a:t>
            </a:r>
            <a:endParaRPr lang="en-US" sz="2400">
              <a:solidFill>
                <a:srgbClr val="FFFFFF"/>
              </a:solidFill>
            </a:endParaRPr>
          </a:p>
          <a:p>
            <a:pPr marL="283210" indent="-283210"/>
            <a:endParaRPr lang="en-US" dirty="0">
              <a:solidFill>
                <a:srgbClr val="FFFFFF"/>
              </a:solidFill>
            </a:endParaRPr>
          </a:p>
        </p:txBody>
      </p:sp>
      <p:sp>
        <p:nvSpPr>
          <p:cNvPr id="4" name="Slide Number Placeholder 3">
            <a:extLst>
              <a:ext uri="{FF2B5EF4-FFF2-40B4-BE49-F238E27FC236}">
                <a16:creationId xmlns:a16="http://schemas.microsoft.com/office/drawing/2014/main" id="{FD1E69EA-A9E8-C521-7C62-DA1F24879918}"/>
              </a:ext>
            </a:extLst>
          </p:cNvPr>
          <p:cNvSpPr>
            <a:spLocks noGrp="1"/>
          </p:cNvSpPr>
          <p:nvPr>
            <p:ph type="sldNum" sz="quarter" idx="12"/>
          </p:nvPr>
        </p:nvSpPr>
        <p:spPr/>
        <p:txBody>
          <a:bodyPr/>
          <a:lstStyle/>
          <a:p>
            <a:fld id="{FE024F78-56A6-7740-B68D-8D4D026EDF3F}" type="slidenum">
              <a:rPr lang="en-US" smtClean="0"/>
              <a:pPr/>
              <a:t>22</a:t>
            </a:fld>
            <a:endParaRPr lang="en-US" dirty="0"/>
          </a:p>
        </p:txBody>
      </p:sp>
    </p:spTree>
    <p:extLst>
      <p:ext uri="{BB962C8B-B14F-4D97-AF65-F5344CB8AC3E}">
        <p14:creationId xmlns:p14="http://schemas.microsoft.com/office/powerpoint/2010/main" val="79695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0E9C-9448-7DCB-76B9-30D23FB46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400AA-F682-472F-C4DD-41F7F1166577}"/>
              </a:ext>
            </a:extLst>
          </p:cNvPr>
          <p:cNvSpPr>
            <a:spLocks noGrp="1"/>
          </p:cNvSpPr>
          <p:nvPr>
            <p:ph type="title"/>
          </p:nvPr>
        </p:nvSpPr>
        <p:spPr>
          <a:xfrm>
            <a:off x="321869" y="376714"/>
            <a:ext cx="11560167" cy="6055148"/>
          </a:xfrm>
        </p:spPr>
        <p:txBody>
          <a:bodyPr/>
          <a:lstStyle/>
          <a:p>
            <a:r>
              <a:rPr lang="en-US" b="1">
                <a:solidFill>
                  <a:schemeClr val="bg2"/>
                </a:solidFill>
                <a:ea typeface="+mj-lt"/>
                <a:cs typeface="+mj-lt"/>
              </a:rPr>
              <a:t>Conclusion</a:t>
            </a:r>
            <a:br>
              <a:rPr lang="en-US" b="1" dirty="0">
                <a:solidFill>
                  <a:schemeClr val="bg2"/>
                </a:solidFill>
                <a:ea typeface="+mj-lt"/>
                <a:cs typeface="+mj-lt"/>
              </a:rPr>
            </a:br>
            <a:br>
              <a:rPr lang="en-US" b="1" dirty="0">
                <a:ea typeface="+mj-lt"/>
                <a:cs typeface="+mj-lt"/>
              </a:rPr>
            </a:br>
            <a:r>
              <a:rPr lang="en-US" sz="1800">
                <a:solidFill>
                  <a:schemeClr val="bg2"/>
                </a:solidFill>
                <a:ea typeface="+mj-lt"/>
                <a:cs typeface="+mj-lt"/>
              </a:rPr>
              <a:t>This project lays the foundation for a next-generation decentralized exchange (DEX) by combining the proven model of Uniswap with the intelligence and automation of agents through an MCP server. It enables users to swap tokens, provide liquidity, and earn fees, while autonomous agents enhance efficiency by monitoring pools, executing trades, and reducing risks.</a:t>
            </a:r>
            <a:endParaRPr lang="en-US" sz="1800">
              <a:solidFill>
                <a:schemeClr val="bg2"/>
              </a:solidFill>
            </a:endParaRPr>
          </a:p>
          <a:p>
            <a:r>
              <a:rPr lang="en-US" sz="1800">
                <a:solidFill>
                  <a:schemeClr val="bg2"/>
                </a:solidFill>
                <a:ea typeface="+mj-lt"/>
                <a:cs typeface="+mj-lt"/>
              </a:rPr>
              <a:t>By integrating smart contracts, databases, authentication, and a web3 frontend, the system ensures transparency, security, and accessibility for users. Although the initial scope focuses on swaps, pools, and liquidity, the platform is designed to be scalable and extensible, with the potential to evolve into a full DeFi ecosystem by incorporating lending, borrowing, yield optimization, and governance automation.</a:t>
            </a:r>
            <a:endParaRPr lang="en-US" sz="1800">
              <a:solidFill>
                <a:schemeClr val="bg2"/>
              </a:solidFill>
            </a:endParaRPr>
          </a:p>
          <a:p>
            <a:r>
              <a:rPr lang="en-US" sz="1800">
                <a:solidFill>
                  <a:schemeClr val="bg2"/>
                </a:solidFill>
                <a:ea typeface="+mj-lt"/>
                <a:cs typeface="+mj-lt"/>
              </a:rPr>
              <a:t>Ultimately, this project demonstrates how agents + DeFi protocols can work together to create a self-optimizing, user-friendly, and intelligent financial system, pushing decentralized finance towards greater adoption and sustainability.</a:t>
            </a:r>
            <a:endParaRPr lang="en-US" sz="1800" dirty="0">
              <a:solidFill>
                <a:schemeClr val="bg2"/>
              </a:solidFill>
            </a:endParaRPr>
          </a:p>
          <a:p>
            <a:endParaRPr lang="en-US" sz="1400" dirty="0">
              <a:solidFill>
                <a:schemeClr val="bg2"/>
              </a:solidFill>
            </a:endParaRPr>
          </a:p>
        </p:txBody>
      </p:sp>
      <p:sp>
        <p:nvSpPr>
          <p:cNvPr id="3" name="Slide Number Placeholder 2">
            <a:extLst>
              <a:ext uri="{FF2B5EF4-FFF2-40B4-BE49-F238E27FC236}">
                <a16:creationId xmlns:a16="http://schemas.microsoft.com/office/drawing/2014/main" id="{79320D1D-4663-00B5-B418-40E141C35199}"/>
              </a:ext>
            </a:extLst>
          </p:cNvPr>
          <p:cNvSpPr>
            <a:spLocks noGrp="1"/>
          </p:cNvSpPr>
          <p:nvPr>
            <p:ph type="sldNum" sz="quarter" idx="12"/>
          </p:nvPr>
        </p:nvSpPr>
        <p:spPr/>
        <p:txBody>
          <a:bodyPr/>
          <a:lstStyle/>
          <a:p>
            <a:fld id="{FE024F78-56A6-7740-B68D-8D4D026EDF3F}" type="slidenum">
              <a:rPr lang="en-US" smtClean="0"/>
              <a:pPr/>
              <a:t>23</a:t>
            </a:fld>
            <a:endParaRPr lang="en-US" dirty="0"/>
          </a:p>
        </p:txBody>
      </p:sp>
    </p:spTree>
    <p:extLst>
      <p:ext uri="{BB962C8B-B14F-4D97-AF65-F5344CB8AC3E}">
        <p14:creationId xmlns:p14="http://schemas.microsoft.com/office/powerpoint/2010/main" val="12269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78000">
              <a:schemeClr val="accent6">
                <a:lumMod val="50000"/>
              </a:schemeClr>
            </a:gs>
            <a:gs pos="35040">
              <a:srgbClr val="020B11"/>
            </a:gs>
            <a:gs pos="11979">
              <a:schemeClr val="accent4">
                <a:lumMod val="50000"/>
              </a:schemeClr>
            </a:gs>
            <a:gs pos="0">
              <a:schemeClr val="accent4"/>
            </a:gs>
            <a:gs pos="99000">
              <a:schemeClr val="tx2">
                <a:lumMod val="50000"/>
              </a:schemeClr>
            </a:gs>
          </a:gsLst>
          <a:lin ang="7800000" scaled="0"/>
        </a:gra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p:txBody>
          <a:bodyPr/>
          <a:lstStyle/>
          <a:p>
            <a:r>
              <a:rPr lang="en-US" dirty="0"/>
              <a:t>THANK YOU</a:t>
            </a:r>
          </a:p>
        </p:txBody>
      </p:sp>
      <p:sp>
        <p:nvSpPr>
          <p:cNvPr id="14" name="Text Placeholder 2">
            <a:extLst>
              <a:ext uri="{FF2B5EF4-FFF2-40B4-BE49-F238E27FC236}">
                <a16:creationId xmlns:a16="http://schemas.microsoft.com/office/drawing/2014/main" id="{AE5F2E56-9F77-E1C2-EC04-EA959822CA61}"/>
              </a:ext>
            </a:extLst>
          </p:cNvPr>
          <p:cNvSpPr>
            <a:spLocks noGrp="1"/>
          </p:cNvSpPr>
          <p:nvPr>
            <p:ph sz="quarter" idx="14"/>
          </p:nvPr>
        </p:nvSpPr>
        <p:spPr/>
        <p:txBody>
          <a:bodyPr vert="horz" lIns="91440" tIns="45720" rIns="91440" bIns="45720" rtlCol="0" anchor="t">
            <a:normAutofit/>
          </a:bodyPr>
          <a:lstStyle/>
          <a:p>
            <a:r>
              <a:rPr lang="en-US"/>
              <a:t>Ali  Hamza</a:t>
            </a:r>
            <a:endParaRPr lang="en-US" dirty="0"/>
          </a:p>
          <a:p>
            <a:r>
              <a:rPr lang="en-US" dirty="0"/>
              <a:t>03308734524</a:t>
            </a:r>
          </a:p>
          <a:p>
            <a:r>
              <a:rPr lang="en-US"/>
              <a:t>raialihamza58@gmail.com</a:t>
            </a:r>
            <a:endParaRPr lang="en-US" dirty="0"/>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F6E7B4D-FB62-47B7-AAA7-0DEC9938DB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78D9019-7CE1-4B77-8F5D-67F6576598CB}">
  <ds:schemaRefs>
    <ds:schemaRef ds:uri="http://schemas.microsoft.com/sharepoint/v3/contenttype/forms"/>
  </ds:schemaRefs>
</ds:datastoreItem>
</file>

<file path=customXml/itemProps3.xml><?xml version="1.0" encoding="utf-8"?>
<ds:datastoreItem xmlns:ds="http://schemas.openxmlformats.org/officeDocument/2006/customXml" ds:itemID="{E42E6C21-1752-4E06-9FE3-208D45ADB66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430</Words>
  <Application>Microsoft Office PowerPoint</Application>
  <PresentationFormat>Widescreen</PresentationFormat>
  <Paragraphs>133</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AccentBoxVTI</vt:lpstr>
      <vt:lpstr>Project title</vt:lpstr>
      <vt:lpstr>Problem Statement</vt:lpstr>
      <vt:lpstr>Problem SummARY  Current decentralized exchanges like Uniswap provide liquidity and swaps but lack automation, intelligence, and user-friendly management of liquidity and trading — this project solves the problem by integrating autonomous agents (via MCP server) into a Uniswap-like DEX, making DeFi smarter, safer, and easier for users. </vt:lpstr>
      <vt:lpstr>Overcoming </vt:lpstr>
      <vt:lpstr>Objective summary</vt:lpstr>
      <vt:lpstr>Functional  Requirements</vt:lpstr>
      <vt:lpstr>Functional  Requirements</vt:lpstr>
      <vt:lpstr>Functional  Requirements</vt:lpstr>
      <vt:lpstr>Functional  Requirements</vt:lpstr>
      <vt:lpstr>NON Functional requirements</vt:lpstr>
      <vt:lpstr>NON Functional requirements</vt:lpstr>
      <vt:lpstr>Tech Stack</vt:lpstr>
      <vt:lpstr>Tech Stack</vt:lpstr>
      <vt:lpstr>Tech Stack</vt:lpstr>
      <vt:lpstr>Tech Stack</vt:lpstr>
      <vt:lpstr>Tech Stack</vt:lpstr>
      <vt:lpstr>Tech Stack</vt:lpstr>
      <vt:lpstr>Technology  SummARy  The project will use Solidity (smart contracts), Reactjs (frontend), FastAPI + mySQL (backend), MCP server , and Python agents, all containerized with Docker and deployed on Ethereum mainnet + cloud infrastructure like kubernetes. </vt:lpstr>
      <vt:lpstr>Further Enhancements</vt:lpstr>
      <vt:lpstr>Further Enhancements</vt:lpstr>
      <vt:lpstr>Further Enhancements</vt:lpstr>
      <vt:lpstr>SCOPE</vt:lpstr>
      <vt:lpstr>Conclusion  This project lays the foundation for a next-generation decentralized exchange (DEX) by combining the proven model of Uniswap with the intelligence and automation of agents through an MCP server. It enables users to swap tokens, provide liquidity, and earn fees, while autonomous agents enhance efficiency by monitoring pools, executing trades, and reducing risks. By integrating smart contracts, databases, authentication, and a web3 frontend, the system ensures transparency, security, and accessibility for users. Although the initial scope focuses on swaps, pools, and liquidity, the platform is designed to be scalable and extensible, with the potential to evolve into a full DeFi ecosystem by incorporating lending, borrowing, yield optimization, and governance automation. Ultimately, this project demonstrates how agents + DeFi protocols can work together to create a self-optimizing, user-friendly, and intelligent financial system, pushing decentralized finance towards greater adoption and sustainability.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534</cp:revision>
  <dcterms:created xsi:type="dcterms:W3CDTF">2025-10-04T17:58:29Z</dcterms:created>
  <dcterms:modified xsi:type="dcterms:W3CDTF">2025-10-08T22:27:57Z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